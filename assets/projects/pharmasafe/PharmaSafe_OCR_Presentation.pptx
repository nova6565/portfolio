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mAP@50</c:v>
                </c:pt>
              </c:strCache>
            </c:strRef>
          </c:tx>
          <c:spPr>
            <a:solidFill>
              <a:srgbClr val="14B8A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Name</c:v>
                  </c:pt>
                  <c:pt idx="1">
                    <c:v>Dose</c:v>
                  </c:pt>
                  <c:pt idx="2">
                    <c:v>Type</c:v>
                  </c:pt>
                  <c:pt idx="3">
                    <c:v>Mean</c:v>
                  </c:pt>
                </c:lvl>
              </c:multiLvlStrCache>
            </c:multiLvlStrRef>
          </c:cat>
          <c:val>
            <c:numRef>
              <c:f>Sheet1!$B$2:$B$5</c:f>
              <c:numCache>
                <c:formatCode>General</c:formatCode>
                <c:ptCount val="4"/>
                <c:pt idx="0">
                  <c:v>0.6855</c:v>
                </c:pt>
                <c:pt idx="1">
                  <c:v>0.7446</c:v>
                </c:pt>
                <c:pt idx="2">
                  <c:v>0.698</c:v>
                </c:pt>
                <c:pt idx="3">
                  <c:v>0.7094</c:v>
                </c:pt>
              </c:numCache>
            </c:numRef>
          </c:val>
        </c:ser>
        <c:ser>
          <c:idx val="1"/>
          <c:order val="1"/>
          <c:tx>
            <c:strRef>
              <c:f>Sheet1!$C$1</c:f>
              <c:strCache>
                <c:ptCount val="1"/>
                <c:pt idx="0">
                  <c:v>F1</c:v>
                </c:pt>
              </c:strCache>
            </c:strRef>
          </c:tx>
          <c:spPr>
            <a:solidFill>
              <a:srgbClr val="F9731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Name</c:v>
                  </c:pt>
                  <c:pt idx="1">
                    <c:v>Dose</c:v>
                  </c:pt>
                  <c:pt idx="2">
                    <c:v>Type</c:v>
                  </c:pt>
                  <c:pt idx="3">
                    <c:v>Mean</c:v>
                  </c:pt>
                </c:lvl>
              </c:multiLvlStrCache>
            </c:multiLvlStrRef>
          </c:cat>
          <c:val>
            <c:numRef>
              <c:f>Sheet1!$C$2:$C$5</c:f>
              <c:numCache>
                <c:formatCode>General</c:formatCode>
                <c:ptCount val="4"/>
                <c:pt idx="0">
                  <c:v>0.7632</c:v>
                </c:pt>
                <c:pt idx="1">
                  <c:v>0.7986</c:v>
                </c:pt>
                <c:pt idx="2">
                  <c:v>0.7887</c:v>
                </c:pt>
                <c:pt idx="3">
                  <c:v>0.784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D5E7FF"/>
                </a:solidFill>
                <a:latin typeface="Aptos"/>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24334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D5E7FF"/>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5-1.jpg"/><Relationship Id="rId2" Type="http://schemas.openxmlformats.org/officeDocument/2006/relationships/image" Target="../media/image-5-2.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11F"/>
        </a:solidFill>
      </p:bgPr>
    </p:bg>
    <p:spTree>
      <p:nvGrpSpPr>
        <p:cNvPr id="1" name=""/>
        <p:cNvGrpSpPr/>
        <p:nvPr/>
      </p:nvGrpSpPr>
      <p:grpSpPr>
        <a:xfrm>
          <a:off x="0" y="0"/>
          <a:ext cx="0" cy="0"/>
          <a:chOff x="0" y="0"/>
          <a:chExt cx="0" cy="0"/>
        </a:xfrm>
      </p:grpSpPr>
      <p:pic>
        <p:nvPicPr>
          <p:cNvPr id="2" name="Image 0" descr="/mnt/data/a_high_resolution_cinematic_abstract_medical_techn_batch_1.pn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658368" y="914400"/>
            <a:ext cx="5760720" cy="658368"/>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PharmaSafe OCR</a:t>
            </a:r>
            <a:endParaRPr lang="en-US" sz="4600" dirty="0"/>
          </a:p>
        </p:txBody>
      </p:sp>
      <p:sp>
        <p:nvSpPr>
          <p:cNvPr id="4" name="Text 1"/>
          <p:cNvSpPr/>
          <p:nvPr/>
        </p:nvSpPr>
        <p:spPr>
          <a:xfrm>
            <a:off x="676656" y="1664208"/>
            <a:ext cx="6126480" cy="365760"/>
          </a:xfrm>
          <a:prstGeom prst="rect">
            <a:avLst/>
          </a:prstGeom>
          <a:noFill/>
          <a:ln/>
        </p:spPr>
        <p:txBody>
          <a:bodyPr wrap="square" lIns="0" tIns="0" rIns="0" bIns="0" rtlCol="0" anchor="ctr">
            <a:normAutofit/>
          </a:bodyPr>
          <a:lstStyle/>
          <a:p>
            <a:pPr indent="0" marL="0">
              <a:buNone/>
            </a:pPr>
            <a:r>
              <a:rPr lang="en-US" sz="2000" dirty="0">
                <a:solidFill>
                  <a:srgbClr val="A7F3D0"/>
                </a:solidFill>
              </a:rPr>
              <a:t>Automated prescription information extraction</a:t>
            </a:r>
            <a:endParaRPr lang="en-US" sz="2000" dirty="0"/>
          </a:p>
        </p:txBody>
      </p:sp>
      <p:sp>
        <p:nvSpPr>
          <p:cNvPr id="5" name="Text 2"/>
          <p:cNvSpPr/>
          <p:nvPr/>
        </p:nvSpPr>
        <p:spPr>
          <a:xfrm>
            <a:off x="694944" y="2176272"/>
            <a:ext cx="6035040" cy="256032"/>
          </a:xfrm>
          <a:prstGeom prst="rect">
            <a:avLst/>
          </a:prstGeom>
          <a:noFill/>
          <a:ln/>
        </p:spPr>
        <p:txBody>
          <a:bodyPr wrap="square" lIns="0" tIns="0" rIns="0" bIns="0" rtlCol="0" anchor="ctr">
            <a:normAutofit/>
          </a:bodyPr>
          <a:lstStyle/>
          <a:p>
            <a:pPr indent="0" marL="0">
              <a:buNone/>
            </a:pPr>
            <a:r>
              <a:rPr lang="en-US" sz="1350" dirty="0">
                <a:solidFill>
                  <a:srgbClr val="D5E7FF"/>
                </a:solidFill>
              </a:rPr>
              <a:t>ROI Detection → Handwritten OCR → Drug Name Correction</a:t>
            </a:r>
            <a:endParaRPr lang="en-US" sz="1350" dirty="0"/>
          </a:p>
        </p:txBody>
      </p:sp>
      <p:sp>
        <p:nvSpPr>
          <p:cNvPr id="6" name="Text 3"/>
          <p:cNvSpPr/>
          <p:nvPr/>
        </p:nvSpPr>
        <p:spPr>
          <a:xfrm>
            <a:off x="694944" y="5468112"/>
            <a:ext cx="3657600" cy="219456"/>
          </a:xfrm>
          <a:prstGeom prst="rect">
            <a:avLst/>
          </a:prstGeom>
          <a:noFill/>
          <a:ln/>
        </p:spPr>
        <p:txBody>
          <a:bodyPr wrap="square" lIns="0" tIns="0" rIns="0" bIns="0" rtlCol="0" anchor="ctr"/>
          <a:lstStyle/>
          <a:p>
            <a:pPr indent="0" marL="0">
              <a:buNone/>
            </a:pPr>
            <a:r>
              <a:rPr lang="en-US" sz="1050" dirty="0">
                <a:solidFill>
                  <a:srgbClr val="93A4BD"/>
                </a:solidFill>
              </a:rPr>
              <a:t>Technical Documentation Presentation</a:t>
            </a:r>
            <a:endParaRPr lang="en-US" sz="1050" dirty="0"/>
          </a:p>
        </p:txBody>
      </p:sp>
      <p:sp>
        <p:nvSpPr>
          <p:cNvPr id="7" name="Shape 4"/>
          <p:cNvSpPr/>
          <p:nvPr/>
        </p:nvSpPr>
        <p:spPr>
          <a:xfrm>
            <a:off x="685800" y="5230368"/>
            <a:ext cx="2194560" cy="0"/>
          </a:xfrm>
          <a:prstGeom prst="line">
            <a:avLst/>
          </a:prstGeom>
          <a:noFill/>
          <a:ln w="38100">
            <a:solidFill>
              <a:srgbClr val="14B8A6"/>
            </a:solidFill>
            <a:prstDash val="solid"/>
          </a:ln>
        </p:spPr>
      </p:sp>
      <p:sp>
        <p:nvSpPr>
          <p:cNvPr id="8" name="Text 5"/>
          <p:cNvSpPr/>
          <p:nvPr/>
        </p:nvSpPr>
        <p:spPr>
          <a:xfrm>
            <a:off x="502920" y="6510528"/>
            <a:ext cx="1828800" cy="164592"/>
          </a:xfrm>
          <a:prstGeom prst="rect">
            <a:avLst/>
          </a:prstGeom>
          <a:noFill/>
          <a:ln/>
        </p:spPr>
        <p:txBody>
          <a:bodyPr wrap="square" lIns="0" tIns="0" rIns="0" bIns="0" rtlCol="0" anchor="ctr"/>
          <a:lstStyle/>
          <a:p>
            <a:pPr indent="0" marL="0">
              <a:buNone/>
            </a:pPr>
            <a:r>
              <a:rPr lang="en-US" sz="800" dirty="0">
                <a:solidFill>
                  <a:srgbClr val="93A4BD"/>
                </a:solidFill>
              </a:rPr>
              <a:t>PharmaSafe OCR</a:t>
            </a:r>
            <a:endParaRPr lang="en-US" sz="800" dirty="0"/>
          </a:p>
        </p:txBody>
      </p:sp>
      <p:sp>
        <p:nvSpPr>
          <p:cNvPr id="9" name="Text 6"/>
          <p:cNvSpPr/>
          <p:nvPr/>
        </p:nvSpPr>
        <p:spPr>
          <a:xfrm>
            <a:off x="11247120" y="6483096"/>
            <a:ext cx="457200" cy="201168"/>
          </a:xfrm>
          <a:prstGeom prst="rect">
            <a:avLst/>
          </a:prstGeom>
          <a:noFill/>
          <a:ln/>
        </p:spPr>
        <p:txBody>
          <a:bodyPr wrap="square" lIns="0" tIns="0" rIns="0" bIns="0" rtlCol="0" anchor="ctr"/>
          <a:lstStyle/>
          <a:p>
            <a:pPr algn="r" indent="0" marL="0">
              <a:buNone/>
            </a:pPr>
            <a:r>
              <a:rPr lang="en-US" sz="900" b="1" dirty="0">
                <a:solidFill>
                  <a:srgbClr val="14B8A6"/>
                </a:solidFill>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111F"/>
        </a:solidFill>
      </p:bgPr>
    </p:bg>
    <p:spTree>
      <p:nvGrpSpPr>
        <p:cNvPr id="1" name=""/>
        <p:cNvGrpSpPr/>
        <p:nvPr/>
      </p:nvGrpSpPr>
      <p:grpSpPr>
        <a:xfrm>
          <a:off x="0" y="0"/>
          <a:ext cx="0" cy="0"/>
          <a:chOff x="0" y="0"/>
          <a:chExt cx="0" cy="0"/>
        </a:xfrm>
      </p:grpSpPr>
      <p:pic>
        <p:nvPicPr>
          <p:cNvPr id="2" name="Image 0" descr="/mnt/data/a_cinematic_modern_sci_fi_medical_tech_scene_in_batch_3.pn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502920" y="347472"/>
            <a:ext cx="7132320" cy="411480"/>
          </a:xfrm>
          <a:prstGeom prst="rect">
            <a:avLst/>
          </a:prstGeom>
          <a:noFill/>
          <a:ln/>
        </p:spPr>
        <p:txBody>
          <a:bodyPr wrap="square" lIns="0" tIns="0" rIns="0" bIns="0" rtlCol="0" anchor="ctr">
            <a:normAutofit/>
          </a:bodyPr>
          <a:lstStyle/>
          <a:p>
            <a:pPr indent="0" marL="0">
              <a:buNone/>
            </a:pPr>
            <a:r>
              <a:rPr lang="en-US" sz="2800" b="1" dirty="0">
                <a:solidFill>
                  <a:srgbClr val="EAF2FF"/>
                </a:solidFill>
                <a:latin typeface="Aptos Display" pitchFamily="34" charset="0"/>
                <a:ea typeface="Aptos Display" pitchFamily="34" charset="-122"/>
                <a:cs typeface="Aptos Display" pitchFamily="34" charset="-120"/>
              </a:rPr>
              <a:t>The clinical problem</a:t>
            </a:r>
            <a:endParaRPr lang="en-US" sz="2800" dirty="0"/>
          </a:p>
        </p:txBody>
      </p:sp>
      <p:sp>
        <p:nvSpPr>
          <p:cNvPr id="4" name="Text 1"/>
          <p:cNvSpPr/>
          <p:nvPr/>
        </p:nvSpPr>
        <p:spPr>
          <a:xfrm>
            <a:off x="530352" y="804672"/>
            <a:ext cx="6035040" cy="228600"/>
          </a:xfrm>
          <a:prstGeom prst="rect">
            <a:avLst/>
          </a:prstGeom>
          <a:noFill/>
          <a:ln/>
        </p:spPr>
        <p:txBody>
          <a:bodyPr wrap="square" lIns="0" tIns="0" rIns="0" bIns="0" rtlCol="0" anchor="ctr">
            <a:normAutofit/>
          </a:bodyPr>
          <a:lstStyle/>
          <a:p>
            <a:pPr indent="0" marL="0">
              <a:buNone/>
            </a:pPr>
            <a:r>
              <a:rPr lang="en-US" sz="950" dirty="0">
                <a:solidFill>
                  <a:srgbClr val="93A4BD"/>
                </a:solidFill>
              </a:rPr>
              <a:t>Handwritten prescriptions are high-variance documents in a safety-critical workflow</a:t>
            </a:r>
            <a:endParaRPr lang="en-US" sz="950" dirty="0"/>
          </a:p>
        </p:txBody>
      </p:sp>
      <p:sp>
        <p:nvSpPr>
          <p:cNvPr id="5" name="Shape 2"/>
          <p:cNvSpPr/>
          <p:nvPr/>
        </p:nvSpPr>
        <p:spPr>
          <a:xfrm>
            <a:off x="502920" y="1069848"/>
            <a:ext cx="1828800" cy="0"/>
          </a:xfrm>
          <a:prstGeom prst="line">
            <a:avLst/>
          </a:prstGeom>
          <a:noFill/>
          <a:ln w="25400">
            <a:solidFill>
              <a:srgbClr val="14B8A6"/>
            </a:solidFill>
            <a:prstDash val="solid"/>
          </a:ln>
        </p:spPr>
      </p:sp>
      <p:sp>
        <p:nvSpPr>
          <p:cNvPr id="6" name="Shape 3"/>
          <p:cNvSpPr/>
          <p:nvPr/>
        </p:nvSpPr>
        <p:spPr>
          <a:xfrm>
            <a:off x="2423160" y="1069848"/>
            <a:ext cx="640080" cy="0"/>
          </a:xfrm>
          <a:prstGeom prst="line">
            <a:avLst/>
          </a:prstGeom>
          <a:noFill/>
          <a:ln w="25400">
            <a:solidFill>
              <a:srgbClr val="F97316"/>
            </a:solidFill>
            <a:prstDash val="solid"/>
          </a:ln>
        </p:spPr>
      </p:sp>
      <p:sp>
        <p:nvSpPr>
          <p:cNvPr id="7" name="Text 4"/>
          <p:cNvSpPr/>
          <p:nvPr/>
        </p:nvSpPr>
        <p:spPr>
          <a:xfrm>
            <a:off x="594360" y="1417320"/>
            <a:ext cx="5257800" cy="960120"/>
          </a:xfrm>
          <a:prstGeom prst="rect">
            <a:avLst/>
          </a:prstGeom>
          <a:solidFill>
            <a:srgbClr val="08111F">
              <a:alpha val="85000"/>
            </a:srgbClr>
          </a:solidFill>
          <a:ln>
            <a:solidFill>
              <a:srgbClr val="14B8A6">
                <a:alpha val="20000"/>
              </a:srgbClr>
            </a:solidFill>
          </a:ln>
        </p:spPr>
        <p:txBody>
          <a:bodyPr wrap="square" lIns="1016" tIns="1016" rIns="1016" bIns="1016" rtlCol="0" anchor="ctr">
            <a:normAutofit/>
          </a:bodyPr>
          <a:lstStyle/>
          <a:p>
            <a:pPr indent="0" marL="0">
              <a:buNone/>
            </a:pPr>
            <a:r>
              <a:rPr lang="en-US" sz="1500" dirty="0">
                <a:solidFill>
                  <a:srgbClr val="D5E7FF"/>
                </a:solidFill>
                <a:latin typeface="Aptos" pitchFamily="34" charset="0"/>
                <a:ea typeface="Aptos" pitchFamily="34" charset="-122"/>
                <a:cs typeface="Aptos" pitchFamily="34" charset="-120"/>
              </a:rPr>
              <a:t>Prescriptions are often written quickly, contain abbreviations, use mixed languages, and vary heavily by physician layout. PharmaSafe turns that messy document into structured medication information that can be reviewed and used downstream.</a:t>
            </a:r>
            <a:endParaRPr lang="en-US" sz="1500" dirty="0"/>
          </a:p>
        </p:txBody>
      </p:sp>
      <p:sp>
        <p:nvSpPr>
          <p:cNvPr id="8" name="Text 5"/>
          <p:cNvSpPr/>
          <p:nvPr/>
        </p:nvSpPr>
        <p:spPr>
          <a:xfrm>
            <a:off x="658368" y="2743200"/>
            <a:ext cx="1828800" cy="475488"/>
          </a:xfrm>
          <a:prstGeom prst="rect">
            <a:avLst/>
          </a:prstGeom>
          <a:noFill/>
          <a:ln/>
        </p:spPr>
        <p:txBody>
          <a:bodyPr wrap="square" lIns="0" tIns="0" rIns="0" bIns="0" rtlCol="0" anchor="ctr">
            <a:normAutofit/>
          </a:bodyPr>
          <a:lstStyle/>
          <a:p>
            <a:pPr indent="0" marL="0">
              <a:buNone/>
            </a:pPr>
            <a:r>
              <a:rPr lang="en-US" sz="2600" b="1" dirty="0">
                <a:solidFill>
                  <a:srgbClr val="14B8A6"/>
                </a:solidFill>
              </a:rPr>
              <a:t>3</a:t>
            </a:r>
            <a:endParaRPr lang="en-US" sz="2600" dirty="0"/>
          </a:p>
        </p:txBody>
      </p:sp>
      <p:sp>
        <p:nvSpPr>
          <p:cNvPr id="9" name="Text 6"/>
          <p:cNvSpPr/>
          <p:nvPr/>
        </p:nvSpPr>
        <p:spPr>
          <a:xfrm>
            <a:off x="658368" y="3227832"/>
            <a:ext cx="182880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target fields: name, dose, type</a:t>
            </a:r>
            <a:endParaRPr lang="en-US" sz="950" dirty="0"/>
          </a:p>
        </p:txBody>
      </p:sp>
      <p:sp>
        <p:nvSpPr>
          <p:cNvPr id="10" name="Text 7"/>
          <p:cNvSpPr/>
          <p:nvPr/>
        </p:nvSpPr>
        <p:spPr>
          <a:xfrm>
            <a:off x="2743200" y="2743200"/>
            <a:ext cx="1920240" cy="475488"/>
          </a:xfrm>
          <a:prstGeom prst="rect">
            <a:avLst/>
          </a:prstGeom>
          <a:noFill/>
          <a:ln/>
        </p:spPr>
        <p:txBody>
          <a:bodyPr wrap="square" lIns="0" tIns="0" rIns="0" bIns="0" rtlCol="0" anchor="ctr">
            <a:normAutofit/>
          </a:bodyPr>
          <a:lstStyle/>
          <a:p>
            <a:pPr indent="0" marL="0">
              <a:buNone/>
            </a:pPr>
            <a:r>
              <a:rPr lang="en-US" sz="2600" b="1" dirty="0">
                <a:solidFill>
                  <a:srgbClr val="F97316"/>
                </a:solidFill>
              </a:rPr>
              <a:t>1,213</a:t>
            </a:r>
            <a:endParaRPr lang="en-US" sz="2600" dirty="0"/>
          </a:p>
        </p:txBody>
      </p:sp>
      <p:sp>
        <p:nvSpPr>
          <p:cNvPr id="11" name="Text 8"/>
          <p:cNvSpPr/>
          <p:nvPr/>
        </p:nvSpPr>
        <p:spPr>
          <a:xfrm>
            <a:off x="2743200" y="3227832"/>
            <a:ext cx="192024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detections in pipeline test run</a:t>
            </a:r>
            <a:endParaRPr lang="en-US" sz="950" dirty="0"/>
          </a:p>
        </p:txBody>
      </p:sp>
      <p:sp>
        <p:nvSpPr>
          <p:cNvPr id="12" name="Text 9"/>
          <p:cNvSpPr/>
          <p:nvPr/>
        </p:nvSpPr>
        <p:spPr>
          <a:xfrm>
            <a:off x="4846320" y="2743200"/>
            <a:ext cx="1965960" cy="475488"/>
          </a:xfrm>
          <a:prstGeom prst="rect">
            <a:avLst/>
          </a:prstGeom>
          <a:noFill/>
          <a:ln/>
        </p:spPr>
        <p:txBody>
          <a:bodyPr wrap="square" lIns="0" tIns="0" rIns="0" bIns="0" rtlCol="0" anchor="ctr">
            <a:normAutofit/>
          </a:bodyPr>
          <a:lstStyle/>
          <a:p>
            <a:pPr indent="0" marL="0">
              <a:buNone/>
            </a:pPr>
            <a:r>
              <a:rPr lang="en-US" sz="2600" b="1" dirty="0">
                <a:solidFill>
                  <a:srgbClr val="22D3EE"/>
                </a:solidFill>
              </a:rPr>
              <a:t>90.8%</a:t>
            </a:r>
            <a:endParaRPr lang="en-US" sz="2600" dirty="0"/>
          </a:p>
        </p:txBody>
      </p:sp>
      <p:sp>
        <p:nvSpPr>
          <p:cNvPr id="13" name="Text 10"/>
          <p:cNvSpPr/>
          <p:nvPr/>
        </p:nvSpPr>
        <p:spPr>
          <a:xfrm>
            <a:off x="4846320" y="3227832"/>
            <a:ext cx="196596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TrOCR exact match on test set</a:t>
            </a:r>
            <a:endParaRPr lang="en-US" sz="950" dirty="0"/>
          </a:p>
        </p:txBody>
      </p:sp>
      <p:sp>
        <p:nvSpPr>
          <p:cNvPr id="14" name="Text 11"/>
          <p:cNvSpPr/>
          <p:nvPr/>
        </p:nvSpPr>
        <p:spPr>
          <a:xfrm>
            <a:off x="658368" y="4160520"/>
            <a:ext cx="5303520" cy="530352"/>
          </a:xfrm>
          <a:prstGeom prst="rect">
            <a:avLst/>
          </a:prstGeom>
          <a:solidFill>
            <a:srgbClr val="14243A">
              <a:alpha val="96000"/>
            </a:srgbClr>
          </a:solidFill>
          <a:ln w="15240">
            <a:solidFill>
              <a:srgbClr val="14B8A6">
                <a:alpha val="90000"/>
              </a:srgbClr>
            </a:solidFill>
          </a:ln>
        </p:spPr>
        <p:txBody>
          <a:bodyPr wrap="square" lIns="889" tIns="889" rIns="889" bIns="889" rtlCol="0" anchor="ctr">
            <a:normAutofit/>
          </a:bodyPr>
          <a:lstStyle/>
          <a:p>
            <a:pPr algn="ctr" indent="0" marL="0">
              <a:buNone/>
            </a:pPr>
            <a:r>
              <a:rPr lang="en-US" sz="1600" b="1" dirty="0">
                <a:solidFill>
                  <a:srgbClr val="EAF2FF"/>
                </a:solidFill>
              </a:rPr>
              <a:t>Goal: readable, standardized medication data</a:t>
            </a:r>
            <a:endParaRPr lang="en-US" sz="1600" dirty="0"/>
          </a:p>
        </p:txBody>
      </p:sp>
      <p:sp>
        <p:nvSpPr>
          <p:cNvPr id="15" name="Text 12"/>
          <p:cNvSpPr/>
          <p:nvPr/>
        </p:nvSpPr>
        <p:spPr>
          <a:xfrm>
            <a:off x="502920" y="6510528"/>
            <a:ext cx="1828800" cy="164592"/>
          </a:xfrm>
          <a:prstGeom prst="rect">
            <a:avLst/>
          </a:prstGeom>
          <a:noFill/>
          <a:ln/>
        </p:spPr>
        <p:txBody>
          <a:bodyPr wrap="square" lIns="0" tIns="0" rIns="0" bIns="0" rtlCol="0" anchor="ctr"/>
          <a:lstStyle/>
          <a:p>
            <a:pPr indent="0" marL="0">
              <a:buNone/>
            </a:pPr>
            <a:r>
              <a:rPr lang="en-US" sz="800" dirty="0">
                <a:solidFill>
                  <a:srgbClr val="93A4BD"/>
                </a:solidFill>
              </a:rPr>
              <a:t>PharmaSafe OCR</a:t>
            </a:r>
            <a:endParaRPr lang="en-US" sz="800" dirty="0"/>
          </a:p>
        </p:txBody>
      </p:sp>
      <p:sp>
        <p:nvSpPr>
          <p:cNvPr id="16" name="Text 13"/>
          <p:cNvSpPr/>
          <p:nvPr/>
        </p:nvSpPr>
        <p:spPr>
          <a:xfrm>
            <a:off x="11247120" y="6483096"/>
            <a:ext cx="457200" cy="201168"/>
          </a:xfrm>
          <a:prstGeom prst="rect">
            <a:avLst/>
          </a:prstGeom>
          <a:noFill/>
          <a:ln/>
        </p:spPr>
        <p:txBody>
          <a:bodyPr wrap="square" lIns="0" tIns="0" rIns="0" bIns="0" rtlCol="0" anchor="ctr"/>
          <a:lstStyle/>
          <a:p>
            <a:pPr algn="r" indent="0" marL="0">
              <a:buNone/>
            </a:pPr>
            <a:r>
              <a:rPr lang="en-US" sz="900" b="1" dirty="0">
                <a:solidFill>
                  <a:srgbClr val="14B8A6"/>
                </a:solidFill>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11F"/>
        </a:solidFill>
      </p:bgPr>
    </p:bg>
    <p:spTree>
      <p:nvGrpSpPr>
        <p:cNvPr id="1" name=""/>
        <p:cNvGrpSpPr/>
        <p:nvPr/>
      </p:nvGrpSpPr>
      <p:grpSpPr>
        <a:xfrm>
          <a:off x="0" y="0"/>
          <a:ext cx="0" cy="0"/>
          <a:chOff x="0" y="0"/>
          <a:chExt cx="0" cy="0"/>
        </a:xfrm>
      </p:grpSpPr>
      <p:sp>
        <p:nvSpPr>
          <p:cNvPr id="2" name="Text 0"/>
          <p:cNvSpPr/>
          <p:nvPr/>
        </p:nvSpPr>
        <p:spPr>
          <a:xfrm>
            <a:off x="502920" y="347472"/>
            <a:ext cx="7132320" cy="411480"/>
          </a:xfrm>
          <a:prstGeom prst="rect">
            <a:avLst/>
          </a:prstGeom>
          <a:noFill/>
          <a:ln/>
        </p:spPr>
        <p:txBody>
          <a:bodyPr wrap="square" lIns="0" tIns="0" rIns="0" bIns="0" rtlCol="0" anchor="ctr">
            <a:normAutofit/>
          </a:bodyPr>
          <a:lstStyle/>
          <a:p>
            <a:pPr indent="0" marL="0">
              <a:buNone/>
            </a:pPr>
            <a:r>
              <a:rPr lang="en-US" sz="2800" b="1" dirty="0">
                <a:solidFill>
                  <a:srgbClr val="EAF2FF"/>
                </a:solidFill>
                <a:latin typeface="Aptos Display" pitchFamily="34" charset="0"/>
                <a:ea typeface="Aptos Display" pitchFamily="34" charset="-122"/>
                <a:cs typeface="Aptos Display" pitchFamily="34" charset="-120"/>
              </a:rPr>
              <a:t>System architecture</a:t>
            </a:r>
            <a:endParaRPr lang="en-US" sz="2800" dirty="0"/>
          </a:p>
        </p:txBody>
      </p:sp>
      <p:sp>
        <p:nvSpPr>
          <p:cNvPr id="3" name="Text 1"/>
          <p:cNvSpPr/>
          <p:nvPr/>
        </p:nvSpPr>
        <p:spPr>
          <a:xfrm>
            <a:off x="530352" y="804672"/>
            <a:ext cx="6035040" cy="228600"/>
          </a:xfrm>
          <a:prstGeom prst="rect">
            <a:avLst/>
          </a:prstGeom>
          <a:noFill/>
          <a:ln/>
        </p:spPr>
        <p:txBody>
          <a:bodyPr wrap="square" lIns="0" tIns="0" rIns="0" bIns="0" rtlCol="0" anchor="ctr">
            <a:normAutofit/>
          </a:bodyPr>
          <a:lstStyle/>
          <a:p>
            <a:pPr indent="0" marL="0">
              <a:buNone/>
            </a:pPr>
            <a:r>
              <a:rPr lang="en-US" sz="950" dirty="0">
                <a:solidFill>
                  <a:srgbClr val="93A4BD"/>
                </a:solidFill>
              </a:rPr>
              <a:t>A modular three-stage pipeline built for traceability and independent improvement</a:t>
            </a:r>
            <a:endParaRPr lang="en-US" sz="950" dirty="0"/>
          </a:p>
        </p:txBody>
      </p:sp>
      <p:sp>
        <p:nvSpPr>
          <p:cNvPr id="4" name="Shape 2"/>
          <p:cNvSpPr/>
          <p:nvPr/>
        </p:nvSpPr>
        <p:spPr>
          <a:xfrm>
            <a:off x="502920" y="1069848"/>
            <a:ext cx="1828800" cy="0"/>
          </a:xfrm>
          <a:prstGeom prst="line">
            <a:avLst/>
          </a:prstGeom>
          <a:noFill/>
          <a:ln w="25400">
            <a:solidFill>
              <a:srgbClr val="14B8A6"/>
            </a:solidFill>
            <a:prstDash val="solid"/>
          </a:ln>
        </p:spPr>
      </p:sp>
      <p:sp>
        <p:nvSpPr>
          <p:cNvPr id="5" name="Shape 3"/>
          <p:cNvSpPr/>
          <p:nvPr/>
        </p:nvSpPr>
        <p:spPr>
          <a:xfrm>
            <a:off x="2423160" y="1069848"/>
            <a:ext cx="640080" cy="0"/>
          </a:xfrm>
          <a:prstGeom prst="line">
            <a:avLst/>
          </a:prstGeom>
          <a:noFill/>
          <a:ln w="25400">
            <a:solidFill>
              <a:srgbClr val="F97316"/>
            </a:solidFill>
            <a:prstDash val="solid"/>
          </a:ln>
        </p:spPr>
      </p:sp>
      <p:pic>
        <p:nvPicPr>
          <p:cNvPr id="6" name="Image 0" descr="/mnt/data/wide_infographic_style_scene_on_a_dark_navy_blue_g_batch_2.png">    </p:cNvPr>
          <p:cNvPicPr>
            <a:picLocks noChangeAspect="1"/>
          </p:cNvPicPr>
          <p:nvPr/>
        </p:nvPicPr>
        <p:blipFill>
          <a:blip r:embed="rId1"/>
          <a:stretch>
            <a:fillRect/>
          </a:stretch>
        </p:blipFill>
        <p:spPr>
          <a:xfrm>
            <a:off x="7269480" y="2219635"/>
            <a:ext cx="4297680" cy="2418730"/>
          </a:xfrm>
          <a:prstGeom prst="rect">
            <a:avLst/>
          </a:prstGeom>
        </p:spPr>
      </p:pic>
      <p:sp>
        <p:nvSpPr>
          <p:cNvPr id="7" name="Shape 4"/>
          <p:cNvSpPr/>
          <p:nvPr/>
        </p:nvSpPr>
        <p:spPr>
          <a:xfrm>
            <a:off x="7269480" y="1234440"/>
            <a:ext cx="4297680" cy="4389120"/>
          </a:xfrm>
          <a:prstGeom prst="rect">
            <a:avLst/>
          </a:prstGeom>
          <a:solidFill>
            <a:srgbClr val="000000">
              <a:alpha val="0"/>
            </a:srgbClr>
          </a:solidFill>
          <a:ln w="15240">
            <a:solidFill>
              <a:srgbClr val="14B8A6">
                <a:alpha val="65000"/>
              </a:srgbClr>
            </a:solidFill>
            <a:prstDash val="solid"/>
          </a:ln>
        </p:spPr>
      </p:sp>
      <p:sp>
        <p:nvSpPr>
          <p:cNvPr id="8" name="Text 5"/>
          <p:cNvSpPr/>
          <p:nvPr/>
        </p:nvSpPr>
        <p:spPr>
          <a:xfrm>
            <a:off x="7406640" y="5669280"/>
            <a:ext cx="4023360" cy="192024"/>
          </a:xfrm>
          <a:prstGeom prst="rect">
            <a:avLst/>
          </a:prstGeom>
          <a:noFill/>
          <a:ln/>
        </p:spPr>
        <p:txBody>
          <a:bodyPr wrap="square" lIns="0" tIns="0" rIns="0" bIns="0" rtlCol="0" anchor="ctr">
            <a:normAutofit/>
          </a:bodyPr>
          <a:lstStyle/>
          <a:p>
            <a:pPr indent="0" marL="0">
              <a:buNone/>
            </a:pPr>
            <a:r>
              <a:rPr lang="en-US" sz="800" i="1" dirty="0">
                <a:solidFill>
                  <a:srgbClr val="93A4BD"/>
                </a:solidFill>
              </a:rPr>
              <a:t>Conceptual pipeline: prescription image to structured data</a:t>
            </a:r>
            <a:endParaRPr lang="en-US" sz="800" dirty="0"/>
          </a:p>
        </p:txBody>
      </p:sp>
      <p:sp>
        <p:nvSpPr>
          <p:cNvPr id="9" name="Text 6"/>
          <p:cNvSpPr/>
          <p:nvPr/>
        </p:nvSpPr>
        <p:spPr>
          <a:xfrm>
            <a:off x="685800" y="1828800"/>
            <a:ext cx="1874520" cy="960120"/>
          </a:xfrm>
          <a:prstGeom prst="rect">
            <a:avLst/>
          </a:prstGeom>
          <a:solidFill>
            <a:srgbClr val="14243A">
              <a:alpha val="96000"/>
            </a:srgbClr>
          </a:solidFill>
          <a:ln w="15240">
            <a:solidFill>
              <a:srgbClr val="14B8A6">
                <a:alpha val="90000"/>
              </a:srgbClr>
            </a:solidFill>
          </a:ln>
        </p:spPr>
        <p:txBody>
          <a:bodyPr wrap="square" lIns="889" tIns="889" rIns="889" bIns="889" rtlCol="0" anchor="ctr">
            <a:normAutofit/>
          </a:bodyPr>
          <a:lstStyle/>
          <a:p>
            <a:pPr algn="ctr" indent="0" marL="0">
              <a:buNone/>
            </a:pPr>
            <a:r>
              <a:rPr lang="en-US" sz="1500" b="1" dirty="0">
                <a:solidFill>
                  <a:srgbClr val="EAF2FF"/>
                </a:solidFill>
              </a:rPr>
              <a:t>1</a:t>
            </a:r>
            <a:endParaRPr lang="en-US" sz="1500" dirty="0"/>
          </a:p>
          <a:p>
            <a:pPr algn="ctr" indent="0" marL="0">
              <a:buNone/>
            </a:pPr>
            <a:r>
              <a:rPr lang="en-US" sz="1500" b="1" dirty="0">
                <a:solidFill>
                  <a:srgbClr val="EAF2FF"/>
                </a:solidFill>
              </a:rPr>
              <a:t>ROI Detection</a:t>
            </a:r>
            <a:endParaRPr lang="en-US" sz="1500" dirty="0"/>
          </a:p>
          <a:p>
            <a:pPr algn="ctr" indent="0" marL="0">
              <a:buNone/>
            </a:pPr>
            <a:r>
              <a:rPr lang="en-US" sz="1500" b="1" dirty="0">
                <a:solidFill>
                  <a:srgbClr val="EAF2FF"/>
                </a:solidFill>
              </a:rPr>
              <a:t>YOLO11n</a:t>
            </a:r>
            <a:endParaRPr lang="en-US" sz="1500" dirty="0"/>
          </a:p>
        </p:txBody>
      </p:sp>
      <p:sp>
        <p:nvSpPr>
          <p:cNvPr id="10" name="Text 7"/>
          <p:cNvSpPr/>
          <p:nvPr/>
        </p:nvSpPr>
        <p:spPr>
          <a:xfrm>
            <a:off x="2880360" y="1828800"/>
            <a:ext cx="1874520" cy="960120"/>
          </a:xfrm>
          <a:prstGeom prst="rect">
            <a:avLst/>
          </a:prstGeom>
          <a:solidFill>
            <a:srgbClr val="14243A">
              <a:alpha val="96000"/>
            </a:srgbClr>
          </a:solidFill>
          <a:ln w="15240">
            <a:solidFill>
              <a:srgbClr val="2563EB">
                <a:alpha val="90000"/>
              </a:srgbClr>
            </a:solidFill>
          </a:ln>
        </p:spPr>
        <p:txBody>
          <a:bodyPr wrap="square" lIns="889" tIns="889" rIns="889" bIns="889" rtlCol="0" anchor="ctr">
            <a:normAutofit/>
          </a:bodyPr>
          <a:lstStyle/>
          <a:p>
            <a:pPr algn="ctr" indent="0" marL="0">
              <a:buNone/>
            </a:pPr>
            <a:r>
              <a:rPr lang="en-US" sz="1500" b="1" dirty="0">
                <a:solidFill>
                  <a:srgbClr val="EAF2FF"/>
                </a:solidFill>
              </a:rPr>
              <a:t>2</a:t>
            </a:r>
            <a:endParaRPr lang="en-US" sz="1500" dirty="0"/>
          </a:p>
          <a:p>
            <a:pPr algn="ctr" indent="0" marL="0">
              <a:buNone/>
            </a:pPr>
            <a:r>
              <a:rPr lang="en-US" sz="1500" b="1" dirty="0">
                <a:solidFill>
                  <a:srgbClr val="EAF2FF"/>
                </a:solidFill>
              </a:rPr>
              <a:t>Handwritten OCR</a:t>
            </a:r>
            <a:endParaRPr lang="en-US" sz="1500" dirty="0"/>
          </a:p>
          <a:p>
            <a:pPr algn="ctr" indent="0" marL="0">
              <a:buNone/>
            </a:pPr>
            <a:r>
              <a:rPr lang="en-US" sz="1500" b="1" dirty="0">
                <a:solidFill>
                  <a:srgbClr val="EAF2FF"/>
                </a:solidFill>
              </a:rPr>
              <a:t>TrOCR</a:t>
            </a:r>
            <a:endParaRPr lang="en-US" sz="1500" dirty="0"/>
          </a:p>
        </p:txBody>
      </p:sp>
      <p:sp>
        <p:nvSpPr>
          <p:cNvPr id="11" name="Text 8"/>
          <p:cNvSpPr/>
          <p:nvPr/>
        </p:nvSpPr>
        <p:spPr>
          <a:xfrm>
            <a:off x="4919472" y="1828800"/>
            <a:ext cx="1874520" cy="960120"/>
          </a:xfrm>
          <a:prstGeom prst="rect">
            <a:avLst/>
          </a:prstGeom>
          <a:solidFill>
            <a:srgbClr val="14243A">
              <a:alpha val="96000"/>
            </a:srgbClr>
          </a:solidFill>
          <a:ln w="15240">
            <a:solidFill>
              <a:srgbClr val="F97316">
                <a:alpha val="90000"/>
              </a:srgbClr>
            </a:solidFill>
          </a:ln>
        </p:spPr>
        <p:txBody>
          <a:bodyPr wrap="square" lIns="889" tIns="889" rIns="889" bIns="889" rtlCol="0" anchor="ctr">
            <a:normAutofit/>
          </a:bodyPr>
          <a:lstStyle/>
          <a:p>
            <a:pPr algn="ctr" indent="0" marL="0">
              <a:buNone/>
            </a:pPr>
            <a:r>
              <a:rPr lang="en-US" sz="1400" b="1" dirty="0">
                <a:solidFill>
                  <a:srgbClr val="EAF2FF"/>
                </a:solidFill>
              </a:rPr>
              <a:t>3</a:t>
            </a:r>
            <a:endParaRPr lang="en-US" sz="1400" dirty="0"/>
          </a:p>
          <a:p>
            <a:pPr algn="ctr" indent="0" marL="0">
              <a:buNone/>
            </a:pPr>
            <a:r>
              <a:rPr lang="en-US" sz="1400" b="1" dirty="0">
                <a:solidFill>
                  <a:srgbClr val="EAF2FF"/>
                </a:solidFill>
              </a:rPr>
              <a:t>Drug Correction</a:t>
            </a:r>
            <a:endParaRPr lang="en-US" sz="1400" dirty="0"/>
          </a:p>
          <a:p>
            <a:pPr algn="ctr" indent="0" marL="0">
              <a:buNone/>
            </a:pPr>
            <a:r>
              <a:rPr lang="en-US" sz="1400" b="1" dirty="0">
                <a:solidFill>
                  <a:srgbClr val="EAF2FF"/>
                </a:solidFill>
              </a:rPr>
              <a:t>DrugBank + Local BD</a:t>
            </a:r>
            <a:endParaRPr lang="en-US" sz="1400" dirty="0"/>
          </a:p>
        </p:txBody>
      </p:sp>
      <p:sp>
        <p:nvSpPr>
          <p:cNvPr id="12" name="Shape 9"/>
          <p:cNvSpPr/>
          <p:nvPr/>
        </p:nvSpPr>
        <p:spPr>
          <a:xfrm>
            <a:off x="2578608" y="2304288"/>
            <a:ext cx="256032" cy="0"/>
          </a:xfrm>
          <a:prstGeom prst="line">
            <a:avLst/>
          </a:prstGeom>
          <a:noFill/>
          <a:ln w="27940">
            <a:solidFill>
              <a:srgbClr val="14B8A6"/>
            </a:solidFill>
            <a:prstDash val="solid"/>
            <a:headEnd type="none"/>
            <a:tailEnd type="triangle"/>
          </a:ln>
        </p:spPr>
      </p:sp>
      <p:sp>
        <p:nvSpPr>
          <p:cNvPr id="13" name="Shape 10"/>
          <p:cNvSpPr/>
          <p:nvPr/>
        </p:nvSpPr>
        <p:spPr>
          <a:xfrm>
            <a:off x="4773168" y="2304288"/>
            <a:ext cx="100584" cy="0"/>
          </a:xfrm>
          <a:prstGeom prst="line">
            <a:avLst/>
          </a:prstGeom>
          <a:noFill/>
          <a:ln w="27940">
            <a:solidFill>
              <a:srgbClr val="F97316"/>
            </a:solidFill>
            <a:prstDash val="solid"/>
            <a:headEnd type="none"/>
            <a:tailEnd type="triangle"/>
          </a:ln>
        </p:spPr>
      </p:sp>
      <p:sp>
        <p:nvSpPr>
          <p:cNvPr id="14" name="Text 11"/>
          <p:cNvSpPr/>
          <p:nvPr/>
        </p:nvSpPr>
        <p:spPr>
          <a:xfrm>
            <a:off x="713232" y="3246120"/>
            <a:ext cx="1920240" cy="219456"/>
          </a:xfrm>
          <a:prstGeom prst="rect">
            <a:avLst/>
          </a:prstGeom>
          <a:noFill/>
          <a:ln/>
        </p:spPr>
        <p:txBody>
          <a:bodyPr wrap="square" lIns="0" tIns="0" rIns="0" bIns="0" rtlCol="0" anchor="ctr"/>
          <a:lstStyle/>
          <a:p>
            <a:pPr indent="0" marL="0">
              <a:buNone/>
            </a:pPr>
            <a:r>
              <a:rPr lang="en-US" sz="750" b="1" dirty="0">
                <a:solidFill>
                  <a:srgbClr val="22D3EE"/>
                </a:solidFill>
              </a:rPr>
              <a:t>INTERMEDIATE OUTPUTS</a:t>
            </a:r>
            <a:endParaRPr lang="en-US" sz="750" dirty="0"/>
          </a:p>
        </p:txBody>
      </p:sp>
      <p:sp>
        <p:nvSpPr>
          <p:cNvPr id="15" name="Text 12"/>
          <p:cNvSpPr/>
          <p:nvPr/>
        </p:nvSpPr>
        <p:spPr>
          <a:xfrm>
            <a:off x="713232" y="3584448"/>
            <a:ext cx="5166360" cy="1005840"/>
          </a:xfrm>
          <a:prstGeom prst="rect">
            <a:avLst/>
          </a:prstGeom>
          <a:noFill/>
          <a:ln/>
        </p:spPr>
        <p:txBody>
          <a:bodyPr wrap="square" lIns="1016" tIns="1016" rIns="1016" bIns="1016" rtlCol="0" anchor="ctr">
            <a:normAutofit/>
          </a:bodyPr>
          <a:lstStyle/>
          <a:p>
            <a:pPr indent="0" marL="0">
              <a:buNone/>
            </a:pPr>
            <a:r>
              <a:rPr lang="en-US" sz="1400" dirty="0">
                <a:solidFill>
                  <a:srgbClr val="D5E7FF"/>
                </a:solidFill>
                <a:latin typeface="Aptos" pitchFamily="34" charset="0"/>
                <a:ea typeface="Aptos" pitchFamily="34" charset="-122"/>
                <a:cs typeface="Aptos" pitchFamily="34" charset="-120"/>
              </a:rPr>
              <a:t>Bounding boxes + class labels</a:t>
            </a:r>
            <a:endParaRPr lang="en-US" sz="1400" dirty="0"/>
          </a:p>
          <a:p>
            <a:pPr indent="0" marL="0">
              <a:buNone/>
            </a:pPr>
            <a:r>
              <a:rPr lang="en-US" sz="1400" dirty="0">
                <a:solidFill>
                  <a:srgbClr val="D5E7FF"/>
                </a:solidFill>
                <a:latin typeface="Aptos" pitchFamily="34" charset="0"/>
                <a:ea typeface="Aptos" pitchFamily="34" charset="-122"/>
                <a:cs typeface="Aptos" pitchFamily="34" charset="-120"/>
              </a:rPr>
              <a:t>Raw OCR strings per crop</a:t>
            </a:r>
            <a:endParaRPr lang="en-US" sz="1400" dirty="0"/>
          </a:p>
          <a:p>
            <a:pPr indent="0" marL="0">
              <a:buNone/>
            </a:pPr>
            <a:r>
              <a:rPr lang="en-US" sz="1400" dirty="0">
                <a:solidFill>
                  <a:srgbClr val="D5E7FF"/>
                </a:solidFill>
                <a:latin typeface="Aptos" pitchFamily="34" charset="0"/>
                <a:ea typeface="Aptos" pitchFamily="34" charset="-122"/>
                <a:cs typeface="Aptos" pitchFamily="34" charset="-120"/>
              </a:rPr>
              <a:t>Corrected drug names + confidence</a:t>
            </a:r>
            <a:endParaRPr lang="en-US" sz="1400" dirty="0"/>
          </a:p>
        </p:txBody>
      </p:sp>
      <p:sp>
        <p:nvSpPr>
          <p:cNvPr id="16" name="Text 13"/>
          <p:cNvSpPr/>
          <p:nvPr/>
        </p:nvSpPr>
        <p:spPr>
          <a:xfrm>
            <a:off x="713232" y="5074920"/>
            <a:ext cx="5166360" cy="594360"/>
          </a:xfrm>
          <a:prstGeom prst="rect">
            <a:avLst/>
          </a:prstGeom>
          <a:solidFill>
            <a:srgbClr val="0F1F35">
              <a:alpha val="96000"/>
            </a:srgbClr>
          </a:solidFill>
          <a:ln w="15240">
            <a:solidFill>
              <a:srgbClr val="14B8A6">
                <a:alpha val="90000"/>
              </a:srgbClr>
            </a:solidFill>
          </a:ln>
        </p:spPr>
        <p:txBody>
          <a:bodyPr wrap="square" lIns="889" tIns="889" rIns="889" bIns="889" rtlCol="0" anchor="ctr">
            <a:normAutofit/>
          </a:bodyPr>
          <a:lstStyle/>
          <a:p>
            <a:pPr algn="ctr" indent="0" marL="0">
              <a:buNone/>
            </a:pPr>
            <a:r>
              <a:rPr lang="en-US" sz="1400" b="1" dirty="0">
                <a:solidFill>
                  <a:srgbClr val="D5E7FF"/>
                </a:solidFill>
              </a:rPr>
              <a:t>Why modular? each stage can be trained, evaluated, debugged and improved independently.</a:t>
            </a:r>
            <a:endParaRPr lang="en-US" sz="1400" dirty="0"/>
          </a:p>
        </p:txBody>
      </p:sp>
      <p:sp>
        <p:nvSpPr>
          <p:cNvPr id="17" name="Text 14"/>
          <p:cNvSpPr/>
          <p:nvPr/>
        </p:nvSpPr>
        <p:spPr>
          <a:xfrm>
            <a:off x="502920" y="6510528"/>
            <a:ext cx="1828800" cy="164592"/>
          </a:xfrm>
          <a:prstGeom prst="rect">
            <a:avLst/>
          </a:prstGeom>
          <a:noFill/>
          <a:ln/>
        </p:spPr>
        <p:txBody>
          <a:bodyPr wrap="square" lIns="0" tIns="0" rIns="0" bIns="0" rtlCol="0" anchor="ctr"/>
          <a:lstStyle/>
          <a:p>
            <a:pPr indent="0" marL="0">
              <a:buNone/>
            </a:pPr>
            <a:r>
              <a:rPr lang="en-US" sz="800" dirty="0">
                <a:solidFill>
                  <a:srgbClr val="93A4BD"/>
                </a:solidFill>
              </a:rPr>
              <a:t>PharmaSafe OCR</a:t>
            </a:r>
            <a:endParaRPr lang="en-US" sz="800" dirty="0"/>
          </a:p>
        </p:txBody>
      </p:sp>
      <p:sp>
        <p:nvSpPr>
          <p:cNvPr id="18" name="Text 15"/>
          <p:cNvSpPr/>
          <p:nvPr/>
        </p:nvSpPr>
        <p:spPr>
          <a:xfrm>
            <a:off x="11247120" y="6483096"/>
            <a:ext cx="457200" cy="201168"/>
          </a:xfrm>
          <a:prstGeom prst="rect">
            <a:avLst/>
          </a:prstGeom>
          <a:noFill/>
          <a:ln/>
        </p:spPr>
        <p:txBody>
          <a:bodyPr wrap="square" lIns="0" tIns="0" rIns="0" bIns="0" rtlCol="0" anchor="ctr"/>
          <a:lstStyle/>
          <a:p>
            <a:pPr algn="r" indent="0" marL="0">
              <a:buNone/>
            </a:pPr>
            <a:r>
              <a:rPr lang="en-US" sz="900" b="1" dirty="0">
                <a:solidFill>
                  <a:srgbClr val="14B8A6"/>
                </a:solidFill>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11F"/>
        </a:solidFill>
      </p:bgPr>
    </p:bg>
    <p:spTree>
      <p:nvGrpSpPr>
        <p:cNvPr id="1" name=""/>
        <p:cNvGrpSpPr/>
        <p:nvPr/>
      </p:nvGrpSpPr>
      <p:grpSpPr>
        <a:xfrm>
          <a:off x="0" y="0"/>
          <a:ext cx="0" cy="0"/>
          <a:chOff x="0" y="0"/>
          <a:chExt cx="0" cy="0"/>
        </a:xfrm>
      </p:grpSpPr>
      <p:sp>
        <p:nvSpPr>
          <p:cNvPr id="2" name="Text 0"/>
          <p:cNvSpPr/>
          <p:nvPr/>
        </p:nvSpPr>
        <p:spPr>
          <a:xfrm>
            <a:off x="502920" y="347472"/>
            <a:ext cx="7132320" cy="411480"/>
          </a:xfrm>
          <a:prstGeom prst="rect">
            <a:avLst/>
          </a:prstGeom>
          <a:noFill/>
          <a:ln/>
        </p:spPr>
        <p:txBody>
          <a:bodyPr wrap="square" lIns="0" tIns="0" rIns="0" bIns="0" rtlCol="0" anchor="ctr">
            <a:normAutofit/>
          </a:bodyPr>
          <a:lstStyle/>
          <a:p>
            <a:pPr indent="0" marL="0">
              <a:buNone/>
            </a:pPr>
            <a:r>
              <a:rPr lang="en-US" sz="2800" b="1" dirty="0">
                <a:solidFill>
                  <a:srgbClr val="EAF2FF"/>
                </a:solidFill>
                <a:latin typeface="Aptos Display" pitchFamily="34" charset="0"/>
                <a:ea typeface="Aptos Display" pitchFamily="34" charset="-122"/>
                <a:cs typeface="Aptos Display" pitchFamily="34" charset="-120"/>
              </a:rPr>
              <a:t>Stage 1 — ROI detection with YOLO11n</a:t>
            </a:r>
            <a:endParaRPr lang="en-US" sz="2800" dirty="0"/>
          </a:p>
        </p:txBody>
      </p:sp>
      <p:sp>
        <p:nvSpPr>
          <p:cNvPr id="3" name="Text 1"/>
          <p:cNvSpPr/>
          <p:nvPr/>
        </p:nvSpPr>
        <p:spPr>
          <a:xfrm>
            <a:off x="530352" y="804672"/>
            <a:ext cx="6035040" cy="228600"/>
          </a:xfrm>
          <a:prstGeom prst="rect">
            <a:avLst/>
          </a:prstGeom>
          <a:noFill/>
          <a:ln/>
        </p:spPr>
        <p:txBody>
          <a:bodyPr wrap="square" lIns="0" tIns="0" rIns="0" bIns="0" rtlCol="0" anchor="ctr">
            <a:normAutofit/>
          </a:bodyPr>
          <a:lstStyle/>
          <a:p>
            <a:pPr indent="0" marL="0">
              <a:buNone/>
            </a:pPr>
            <a:r>
              <a:rPr lang="en-US" sz="950" dirty="0">
                <a:solidFill>
                  <a:srgbClr val="93A4BD"/>
                </a:solidFill>
              </a:rPr>
              <a:t>Locating medicine name, dose and type regions inside full prescription images</a:t>
            </a:r>
            <a:endParaRPr lang="en-US" sz="950" dirty="0"/>
          </a:p>
        </p:txBody>
      </p:sp>
      <p:sp>
        <p:nvSpPr>
          <p:cNvPr id="4" name="Shape 2"/>
          <p:cNvSpPr/>
          <p:nvPr/>
        </p:nvSpPr>
        <p:spPr>
          <a:xfrm>
            <a:off x="502920" y="1069848"/>
            <a:ext cx="1828800" cy="0"/>
          </a:xfrm>
          <a:prstGeom prst="line">
            <a:avLst/>
          </a:prstGeom>
          <a:noFill/>
          <a:ln w="25400">
            <a:solidFill>
              <a:srgbClr val="14B8A6"/>
            </a:solidFill>
            <a:prstDash val="solid"/>
          </a:ln>
        </p:spPr>
      </p:sp>
      <p:sp>
        <p:nvSpPr>
          <p:cNvPr id="5" name="Shape 3"/>
          <p:cNvSpPr/>
          <p:nvPr/>
        </p:nvSpPr>
        <p:spPr>
          <a:xfrm>
            <a:off x="2423160" y="1069848"/>
            <a:ext cx="640080" cy="0"/>
          </a:xfrm>
          <a:prstGeom prst="line">
            <a:avLst/>
          </a:prstGeom>
          <a:noFill/>
          <a:ln w="25400">
            <a:solidFill>
              <a:srgbClr val="F97316"/>
            </a:solidFill>
            <a:prstDash val="solid"/>
          </a:ln>
        </p:spPr>
      </p:sp>
      <p:pic>
        <p:nvPicPr>
          <p:cNvPr id="6" name="Image 0" descr="/mnt/data/pharmasafe_docx_media/word/media/image3.jpg">    </p:cNvPr>
          <p:cNvPicPr>
            <a:picLocks noChangeAspect="1"/>
          </p:cNvPicPr>
          <p:nvPr/>
        </p:nvPicPr>
        <p:blipFill>
          <a:blip r:embed="rId1"/>
          <a:stretch>
            <a:fillRect/>
          </a:stretch>
        </p:blipFill>
        <p:spPr>
          <a:xfrm>
            <a:off x="6080760" y="1512010"/>
            <a:ext cx="5532120" cy="3742540"/>
          </a:xfrm>
          <a:prstGeom prst="rect">
            <a:avLst/>
          </a:prstGeom>
        </p:spPr>
      </p:pic>
      <p:sp>
        <p:nvSpPr>
          <p:cNvPr id="7" name="Shape 4"/>
          <p:cNvSpPr/>
          <p:nvPr/>
        </p:nvSpPr>
        <p:spPr>
          <a:xfrm>
            <a:off x="6080760" y="1234440"/>
            <a:ext cx="5532120" cy="4297680"/>
          </a:xfrm>
          <a:prstGeom prst="rect">
            <a:avLst/>
          </a:prstGeom>
          <a:solidFill>
            <a:srgbClr val="000000">
              <a:alpha val="0"/>
            </a:srgbClr>
          </a:solidFill>
          <a:ln w="15240">
            <a:solidFill>
              <a:srgbClr val="14B8A6">
                <a:alpha val="65000"/>
              </a:srgbClr>
            </a:solidFill>
            <a:prstDash val="solid"/>
          </a:ln>
        </p:spPr>
      </p:sp>
      <p:sp>
        <p:nvSpPr>
          <p:cNvPr id="8" name="Text 5"/>
          <p:cNvSpPr/>
          <p:nvPr/>
        </p:nvSpPr>
        <p:spPr>
          <a:xfrm>
            <a:off x="6217920" y="5577840"/>
            <a:ext cx="5257800" cy="192024"/>
          </a:xfrm>
          <a:prstGeom prst="rect">
            <a:avLst/>
          </a:prstGeom>
          <a:noFill/>
          <a:ln/>
        </p:spPr>
        <p:txBody>
          <a:bodyPr wrap="square" lIns="0" tIns="0" rIns="0" bIns="0" rtlCol="0" anchor="ctr">
            <a:normAutofit/>
          </a:bodyPr>
          <a:lstStyle/>
          <a:p>
            <a:pPr indent="0" marL="0">
              <a:buNone/>
            </a:pPr>
            <a:r>
              <a:rPr lang="en-US" sz="800" i="1" dirty="0">
                <a:solidFill>
                  <a:srgbClr val="93A4BD"/>
                </a:solidFill>
              </a:rPr>
              <a:t>YOLO11n test predictions; colors represent field classes</a:t>
            </a:r>
            <a:endParaRPr lang="en-US" sz="800" dirty="0"/>
          </a:p>
        </p:txBody>
      </p:sp>
      <p:sp>
        <p:nvSpPr>
          <p:cNvPr id="9" name="Text 6"/>
          <p:cNvSpPr/>
          <p:nvPr/>
        </p:nvSpPr>
        <p:spPr>
          <a:xfrm>
            <a:off x="640080" y="1234440"/>
            <a:ext cx="1463040" cy="219456"/>
          </a:xfrm>
          <a:prstGeom prst="rect">
            <a:avLst/>
          </a:prstGeom>
          <a:noFill/>
          <a:ln/>
        </p:spPr>
        <p:txBody>
          <a:bodyPr wrap="square" lIns="0" tIns="0" rIns="0" bIns="0" rtlCol="0" anchor="ctr"/>
          <a:lstStyle/>
          <a:p>
            <a:pPr indent="0" marL="0">
              <a:buNone/>
            </a:pPr>
            <a:r>
              <a:rPr lang="en-US" sz="750" b="1" dirty="0">
                <a:solidFill>
                  <a:srgbClr val="14B8A6"/>
                </a:solidFill>
              </a:rPr>
              <a:t>MODEL CHOICE</a:t>
            </a:r>
            <a:endParaRPr lang="en-US" sz="750" dirty="0"/>
          </a:p>
        </p:txBody>
      </p:sp>
      <p:sp>
        <p:nvSpPr>
          <p:cNvPr id="10" name="Text 7"/>
          <p:cNvSpPr/>
          <p:nvPr/>
        </p:nvSpPr>
        <p:spPr>
          <a:xfrm>
            <a:off x="640080" y="1508760"/>
            <a:ext cx="4754880" cy="777240"/>
          </a:xfrm>
          <a:prstGeom prst="rect">
            <a:avLst/>
          </a:prstGeom>
          <a:noFill/>
          <a:ln/>
        </p:spPr>
        <p:txBody>
          <a:bodyPr wrap="square" lIns="1016" tIns="1016" rIns="1016" bIns="1016" rtlCol="0" anchor="ctr">
            <a:normAutofit/>
          </a:bodyPr>
          <a:lstStyle/>
          <a:p>
            <a:pPr indent="0" marL="0">
              <a:buNone/>
            </a:pPr>
            <a:r>
              <a:rPr lang="en-US" sz="1500" dirty="0">
                <a:solidFill>
                  <a:srgbClr val="D5E7FF"/>
                </a:solidFill>
                <a:latin typeface="Aptos" pitchFamily="34" charset="0"/>
                <a:ea typeface="Aptos" pitchFamily="34" charset="-122"/>
                <a:cs typeface="Aptos" pitchFamily="34" charset="-120"/>
              </a:rPr>
              <a:t>YOLO11n was selected because it gives fast single-pass detection, has fewer parameters for the small-data setting, and supports efficient transfer learning.</a:t>
            </a:r>
            <a:endParaRPr lang="en-US" sz="1500" dirty="0"/>
          </a:p>
        </p:txBody>
      </p:sp>
      <p:sp>
        <p:nvSpPr>
          <p:cNvPr id="11" name="Text 8"/>
          <p:cNvSpPr/>
          <p:nvPr/>
        </p:nvSpPr>
        <p:spPr>
          <a:xfrm>
            <a:off x="640080" y="2560320"/>
            <a:ext cx="1463040" cy="219456"/>
          </a:xfrm>
          <a:prstGeom prst="rect">
            <a:avLst/>
          </a:prstGeom>
          <a:noFill/>
          <a:ln/>
        </p:spPr>
        <p:txBody>
          <a:bodyPr wrap="square" lIns="0" tIns="0" rIns="0" bIns="0" rtlCol="0" anchor="ctr"/>
          <a:lstStyle/>
          <a:p>
            <a:pPr indent="0" marL="0">
              <a:buNone/>
            </a:pPr>
            <a:r>
              <a:rPr lang="en-US" sz="750" b="1" dirty="0">
                <a:solidFill>
                  <a:srgbClr val="F97316"/>
                </a:solidFill>
              </a:rPr>
              <a:t>TRAINING DATA</a:t>
            </a:r>
            <a:endParaRPr lang="en-US" sz="750" dirty="0"/>
          </a:p>
        </p:txBody>
      </p:sp>
      <p:sp>
        <p:nvSpPr>
          <p:cNvPr id="12" name="Text 9"/>
          <p:cNvSpPr/>
          <p:nvPr/>
        </p:nvSpPr>
        <p:spPr>
          <a:xfrm>
            <a:off x="658368" y="2834640"/>
            <a:ext cx="5029200" cy="1143000"/>
          </a:xfrm>
          <a:prstGeom prst="rect">
            <a:avLst/>
          </a:prstGeom>
          <a:noFill/>
          <a:ln/>
        </p:spPr>
        <p:txBody>
          <a:bodyPr wrap="square" lIns="762" tIns="762" rIns="762" bIns="762" rtlCol="0" anchor="ctr">
            <a:normAutofit/>
          </a:bodyPr>
          <a:lstStyle/>
          <a:p>
            <a:pPr indent="0" marL="0">
              <a:buNone/>
            </a:pPr>
            <a:r>
              <a:rPr lang="en-US" sz="1350" b="1" dirty="0">
                <a:solidFill>
                  <a:srgbClr val="14B8A6"/>
                </a:solidFill>
              </a:rPr>
              <a:t>• </a:t>
            </a:r>
            <a:pPr indent="0" marL="0">
              <a:buNone/>
            </a:pPr>
            <a:r>
              <a:rPr lang="en-US" sz="1350" dirty="0">
                <a:solidFill>
                  <a:srgbClr val="D5E7FF"/>
                </a:solidFill>
              </a:rPr>
              <a:t>3 Roboflow prescription datasets merged
</a:t>
            </a:r>
            <a:pPr indent="0" marL="0">
              <a:buNone/>
            </a:pPr>
            <a:r>
              <a:rPr lang="en-US" sz="1350" b="1" dirty="0">
                <a:solidFill>
                  <a:srgbClr val="14B8A6"/>
                </a:solidFill>
              </a:rPr>
              <a:t>• </a:t>
            </a:r>
            <a:pPr indent="0" marL="0">
              <a:buNone/>
            </a:pPr>
            <a:r>
              <a:rPr lang="en-US" sz="1350" dirty="0">
                <a:solidFill>
                  <a:srgbClr val="D5E7FF"/>
                </a:solidFill>
              </a:rPr>
              <a:t>Labels remapped into medicine_name, medicine_dose, medicine_type
</a:t>
            </a:r>
            <a:pPr indent="0" marL="0">
              <a:buNone/>
            </a:pPr>
            <a:r>
              <a:rPr lang="en-US" sz="1350" b="1" dirty="0">
                <a:solidFill>
                  <a:srgbClr val="14B8A6"/>
                </a:solidFill>
              </a:rPr>
              <a:t>• </a:t>
            </a:r>
            <a:pPr indent="0" marL="0">
              <a:buNone/>
            </a:pPr>
            <a:r>
              <a:rPr lang="en-US" sz="1350" dirty="0">
                <a:solidFill>
                  <a:srgbClr val="D5E7FF"/>
                </a:solidFill>
              </a:rPr>
              <a:t>Stratified 70/15/15 split; ~1,200 images total</a:t>
            </a:r>
            <a:endParaRPr lang="en-US" sz="1350" dirty="0"/>
          </a:p>
        </p:txBody>
      </p:sp>
      <p:sp>
        <p:nvSpPr>
          <p:cNvPr id="13" name="Text 10"/>
          <p:cNvSpPr/>
          <p:nvPr/>
        </p:nvSpPr>
        <p:spPr>
          <a:xfrm>
            <a:off x="685800" y="4663440"/>
            <a:ext cx="1463040" cy="475488"/>
          </a:xfrm>
          <a:prstGeom prst="rect">
            <a:avLst/>
          </a:prstGeom>
          <a:noFill/>
          <a:ln/>
        </p:spPr>
        <p:txBody>
          <a:bodyPr wrap="square" lIns="0" tIns="0" rIns="0" bIns="0" rtlCol="0" anchor="ctr">
            <a:normAutofit/>
          </a:bodyPr>
          <a:lstStyle/>
          <a:p>
            <a:pPr indent="0" marL="0">
              <a:buNone/>
            </a:pPr>
            <a:r>
              <a:rPr lang="en-US" sz="2600" b="1" dirty="0">
                <a:solidFill>
                  <a:srgbClr val="14B8A6"/>
                </a:solidFill>
              </a:rPr>
              <a:t>0.7094</a:t>
            </a:r>
            <a:endParaRPr lang="en-US" sz="2600" dirty="0"/>
          </a:p>
        </p:txBody>
      </p:sp>
      <p:sp>
        <p:nvSpPr>
          <p:cNvPr id="14" name="Text 11"/>
          <p:cNvSpPr/>
          <p:nvPr/>
        </p:nvSpPr>
        <p:spPr>
          <a:xfrm>
            <a:off x="685800" y="5148072"/>
            <a:ext cx="146304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overall mAP@50</a:t>
            </a:r>
            <a:endParaRPr lang="en-US" sz="950" dirty="0"/>
          </a:p>
        </p:txBody>
      </p:sp>
      <p:sp>
        <p:nvSpPr>
          <p:cNvPr id="15" name="Text 12"/>
          <p:cNvSpPr/>
          <p:nvPr/>
        </p:nvSpPr>
        <p:spPr>
          <a:xfrm>
            <a:off x="2514600" y="4663440"/>
            <a:ext cx="1417320" cy="475488"/>
          </a:xfrm>
          <a:prstGeom prst="rect">
            <a:avLst/>
          </a:prstGeom>
          <a:noFill/>
          <a:ln/>
        </p:spPr>
        <p:txBody>
          <a:bodyPr wrap="square" lIns="0" tIns="0" rIns="0" bIns="0" rtlCol="0" anchor="ctr">
            <a:normAutofit/>
          </a:bodyPr>
          <a:lstStyle/>
          <a:p>
            <a:pPr indent="0" marL="0">
              <a:buNone/>
            </a:pPr>
            <a:r>
              <a:rPr lang="en-US" sz="2600" b="1" dirty="0">
                <a:solidFill>
                  <a:srgbClr val="22D3EE"/>
                </a:solidFill>
              </a:rPr>
              <a:t>0.7840</a:t>
            </a:r>
            <a:endParaRPr lang="en-US" sz="2600" dirty="0"/>
          </a:p>
        </p:txBody>
      </p:sp>
      <p:sp>
        <p:nvSpPr>
          <p:cNvPr id="16" name="Text 13"/>
          <p:cNvSpPr/>
          <p:nvPr/>
        </p:nvSpPr>
        <p:spPr>
          <a:xfrm>
            <a:off x="2514600" y="5148072"/>
            <a:ext cx="141732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mean F1 score</a:t>
            </a:r>
            <a:endParaRPr lang="en-US" sz="950" dirty="0"/>
          </a:p>
        </p:txBody>
      </p:sp>
      <p:sp>
        <p:nvSpPr>
          <p:cNvPr id="17" name="Text 14"/>
          <p:cNvSpPr/>
          <p:nvPr/>
        </p:nvSpPr>
        <p:spPr>
          <a:xfrm>
            <a:off x="4206240" y="4663440"/>
            <a:ext cx="1325880" cy="475488"/>
          </a:xfrm>
          <a:prstGeom prst="rect">
            <a:avLst/>
          </a:prstGeom>
          <a:noFill/>
          <a:ln/>
        </p:spPr>
        <p:txBody>
          <a:bodyPr wrap="square" lIns="0" tIns="0" rIns="0" bIns="0" rtlCol="0" anchor="ctr">
            <a:normAutofit/>
          </a:bodyPr>
          <a:lstStyle/>
          <a:p>
            <a:pPr indent="0" marL="0">
              <a:buNone/>
            </a:pPr>
            <a:r>
              <a:rPr lang="en-US" sz="2600" b="1" dirty="0">
                <a:solidFill>
                  <a:srgbClr val="F97316"/>
                </a:solidFill>
              </a:rPr>
              <a:t>0.7959</a:t>
            </a:r>
            <a:endParaRPr lang="en-US" sz="2600" dirty="0"/>
          </a:p>
        </p:txBody>
      </p:sp>
      <p:sp>
        <p:nvSpPr>
          <p:cNvPr id="18" name="Text 15"/>
          <p:cNvSpPr/>
          <p:nvPr/>
        </p:nvSpPr>
        <p:spPr>
          <a:xfrm>
            <a:off x="4206240" y="5148072"/>
            <a:ext cx="132588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mean recall</a:t>
            </a:r>
            <a:endParaRPr lang="en-US" sz="950" dirty="0"/>
          </a:p>
        </p:txBody>
      </p:sp>
      <p:sp>
        <p:nvSpPr>
          <p:cNvPr id="19" name="Text 16"/>
          <p:cNvSpPr/>
          <p:nvPr/>
        </p:nvSpPr>
        <p:spPr>
          <a:xfrm>
            <a:off x="502920" y="6510528"/>
            <a:ext cx="1828800" cy="164592"/>
          </a:xfrm>
          <a:prstGeom prst="rect">
            <a:avLst/>
          </a:prstGeom>
          <a:noFill/>
          <a:ln/>
        </p:spPr>
        <p:txBody>
          <a:bodyPr wrap="square" lIns="0" tIns="0" rIns="0" bIns="0" rtlCol="0" anchor="ctr"/>
          <a:lstStyle/>
          <a:p>
            <a:pPr indent="0" marL="0">
              <a:buNone/>
            </a:pPr>
            <a:r>
              <a:rPr lang="en-US" sz="800" dirty="0">
                <a:solidFill>
                  <a:srgbClr val="93A4BD"/>
                </a:solidFill>
              </a:rPr>
              <a:t>PharmaSafe OCR</a:t>
            </a:r>
            <a:endParaRPr lang="en-US" sz="800" dirty="0"/>
          </a:p>
        </p:txBody>
      </p:sp>
      <p:sp>
        <p:nvSpPr>
          <p:cNvPr id="20" name="Text 17"/>
          <p:cNvSpPr/>
          <p:nvPr/>
        </p:nvSpPr>
        <p:spPr>
          <a:xfrm>
            <a:off x="11247120" y="6483096"/>
            <a:ext cx="457200" cy="201168"/>
          </a:xfrm>
          <a:prstGeom prst="rect">
            <a:avLst/>
          </a:prstGeom>
          <a:noFill/>
          <a:ln/>
        </p:spPr>
        <p:txBody>
          <a:bodyPr wrap="square" lIns="0" tIns="0" rIns="0" bIns="0" rtlCol="0" anchor="ctr"/>
          <a:lstStyle/>
          <a:p>
            <a:pPr algn="r" indent="0" marL="0">
              <a:buNone/>
            </a:pPr>
            <a:r>
              <a:rPr lang="en-US" sz="900" b="1" dirty="0">
                <a:solidFill>
                  <a:srgbClr val="14B8A6"/>
                </a:solidFill>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11F"/>
        </a:solidFill>
      </p:bgPr>
    </p:bg>
    <p:spTree>
      <p:nvGrpSpPr>
        <p:cNvPr id="1" name=""/>
        <p:cNvGrpSpPr/>
        <p:nvPr/>
      </p:nvGrpSpPr>
      <p:grpSpPr>
        <a:xfrm>
          <a:off x="0" y="0"/>
          <a:ext cx="0" cy="0"/>
          <a:chOff x="0" y="0"/>
          <a:chExt cx="0" cy="0"/>
        </a:xfrm>
      </p:grpSpPr>
      <p:sp>
        <p:nvSpPr>
          <p:cNvPr id="2" name="Text 0"/>
          <p:cNvSpPr/>
          <p:nvPr/>
        </p:nvSpPr>
        <p:spPr>
          <a:xfrm>
            <a:off x="502920" y="347472"/>
            <a:ext cx="7132320" cy="411480"/>
          </a:xfrm>
          <a:prstGeom prst="rect">
            <a:avLst/>
          </a:prstGeom>
          <a:noFill/>
          <a:ln/>
        </p:spPr>
        <p:txBody>
          <a:bodyPr wrap="square" lIns="0" tIns="0" rIns="0" bIns="0" rtlCol="0" anchor="ctr">
            <a:normAutofit/>
          </a:bodyPr>
          <a:lstStyle/>
          <a:p>
            <a:pPr indent="0" marL="0">
              <a:buNone/>
            </a:pPr>
            <a:r>
              <a:rPr lang="en-US" sz="2800" b="1" dirty="0">
                <a:solidFill>
                  <a:srgbClr val="EAF2FF"/>
                </a:solidFill>
                <a:latin typeface="Aptos Display" pitchFamily="34" charset="0"/>
                <a:ea typeface="Aptos Display" pitchFamily="34" charset="-122"/>
                <a:cs typeface="Aptos Display" pitchFamily="34" charset="-120"/>
              </a:rPr>
              <a:t>Stage 1 performance profile</a:t>
            </a:r>
            <a:endParaRPr lang="en-US" sz="2800" dirty="0"/>
          </a:p>
        </p:txBody>
      </p:sp>
      <p:sp>
        <p:nvSpPr>
          <p:cNvPr id="3" name="Text 1"/>
          <p:cNvSpPr/>
          <p:nvPr/>
        </p:nvSpPr>
        <p:spPr>
          <a:xfrm>
            <a:off x="530352" y="804672"/>
            <a:ext cx="6035040" cy="228600"/>
          </a:xfrm>
          <a:prstGeom prst="rect">
            <a:avLst/>
          </a:prstGeom>
          <a:noFill/>
          <a:ln/>
        </p:spPr>
        <p:txBody>
          <a:bodyPr wrap="square" lIns="0" tIns="0" rIns="0" bIns="0" rtlCol="0" anchor="ctr">
            <a:normAutofit/>
          </a:bodyPr>
          <a:lstStyle/>
          <a:p>
            <a:pPr indent="0" marL="0">
              <a:buNone/>
            </a:pPr>
            <a:r>
              <a:rPr lang="en-US" sz="950" dirty="0">
                <a:solidFill>
                  <a:srgbClr val="93A4BD"/>
                </a:solidFill>
              </a:rPr>
              <a:t>Detection quality is strongest at the practical IoU@50 threshold</a:t>
            </a:r>
            <a:endParaRPr lang="en-US" sz="950" dirty="0"/>
          </a:p>
        </p:txBody>
      </p:sp>
      <p:sp>
        <p:nvSpPr>
          <p:cNvPr id="4" name="Shape 2"/>
          <p:cNvSpPr/>
          <p:nvPr/>
        </p:nvSpPr>
        <p:spPr>
          <a:xfrm>
            <a:off x="502920" y="1069848"/>
            <a:ext cx="1828800" cy="0"/>
          </a:xfrm>
          <a:prstGeom prst="line">
            <a:avLst/>
          </a:prstGeom>
          <a:noFill/>
          <a:ln w="25400">
            <a:solidFill>
              <a:srgbClr val="14B8A6"/>
            </a:solidFill>
            <a:prstDash val="solid"/>
          </a:ln>
        </p:spPr>
      </p:sp>
      <p:sp>
        <p:nvSpPr>
          <p:cNvPr id="5" name="Shape 3"/>
          <p:cNvSpPr/>
          <p:nvPr/>
        </p:nvSpPr>
        <p:spPr>
          <a:xfrm>
            <a:off x="2423160" y="1069848"/>
            <a:ext cx="640080" cy="0"/>
          </a:xfrm>
          <a:prstGeom prst="line">
            <a:avLst/>
          </a:prstGeom>
          <a:noFill/>
          <a:ln w="25400">
            <a:solidFill>
              <a:srgbClr val="F97316"/>
            </a:solidFill>
            <a:prstDash val="solid"/>
          </a:ln>
        </p:spPr>
      </p:sp>
      <p:pic>
        <p:nvPicPr>
          <p:cNvPr id="6" name="Image 0" descr="/mnt/data/pharmasafe_docx_media/word/media/image2.jpg">    </p:cNvPr>
          <p:cNvPicPr>
            <a:picLocks noChangeAspect="1"/>
          </p:cNvPicPr>
          <p:nvPr/>
        </p:nvPicPr>
        <p:blipFill>
          <a:blip r:embed="rId1"/>
          <a:stretch>
            <a:fillRect/>
          </a:stretch>
        </p:blipFill>
        <p:spPr>
          <a:xfrm>
            <a:off x="640080" y="1549488"/>
            <a:ext cx="5669280" cy="3164664"/>
          </a:xfrm>
          <a:prstGeom prst="rect">
            <a:avLst/>
          </a:prstGeom>
        </p:spPr>
      </p:pic>
      <p:sp>
        <p:nvSpPr>
          <p:cNvPr id="7" name="Shape 4"/>
          <p:cNvSpPr/>
          <p:nvPr/>
        </p:nvSpPr>
        <p:spPr>
          <a:xfrm>
            <a:off x="640080" y="1051560"/>
            <a:ext cx="5669280" cy="4160520"/>
          </a:xfrm>
          <a:prstGeom prst="rect">
            <a:avLst/>
          </a:prstGeom>
          <a:solidFill>
            <a:srgbClr val="000000">
              <a:alpha val="0"/>
            </a:srgbClr>
          </a:solidFill>
          <a:ln w="15240">
            <a:solidFill>
              <a:srgbClr val="14B8A6">
                <a:alpha val="65000"/>
              </a:srgbClr>
            </a:solidFill>
            <a:prstDash val="solid"/>
          </a:ln>
        </p:spPr>
      </p:sp>
      <p:sp>
        <p:nvSpPr>
          <p:cNvPr id="8" name="Text 5"/>
          <p:cNvSpPr/>
          <p:nvPr/>
        </p:nvSpPr>
        <p:spPr>
          <a:xfrm>
            <a:off x="777240" y="5257800"/>
            <a:ext cx="5394960" cy="192024"/>
          </a:xfrm>
          <a:prstGeom prst="rect">
            <a:avLst/>
          </a:prstGeom>
          <a:noFill/>
          <a:ln/>
        </p:spPr>
        <p:txBody>
          <a:bodyPr wrap="square" lIns="0" tIns="0" rIns="0" bIns="0" rtlCol="0" anchor="ctr">
            <a:normAutofit/>
          </a:bodyPr>
          <a:lstStyle/>
          <a:p>
            <a:pPr indent="0" marL="0">
              <a:buNone/>
            </a:pPr>
            <a:r>
              <a:rPr lang="en-US" sz="800" i="1" dirty="0">
                <a:solidFill>
                  <a:srgbClr val="93A4BD"/>
                </a:solidFill>
              </a:rPr>
              <a:t>Training curves across 300 epochs</a:t>
            </a:r>
            <a:endParaRPr lang="en-US" sz="800" dirty="0"/>
          </a:p>
        </p:txBody>
      </p:sp>
      <p:pic>
        <p:nvPicPr>
          <p:cNvPr id="9" name="Image 1" descr="/mnt/data/pharmasafe_docx_media/word/media/image1.jpg">    </p:cNvPr>
          <p:cNvPicPr>
            <a:picLocks noChangeAspect="1"/>
          </p:cNvPicPr>
          <p:nvPr/>
        </p:nvPicPr>
        <p:blipFill>
          <a:blip r:embed="rId2"/>
          <a:stretch>
            <a:fillRect/>
          </a:stretch>
        </p:blipFill>
        <p:spPr>
          <a:xfrm>
            <a:off x="6915150" y="1143000"/>
            <a:ext cx="4320540" cy="1143000"/>
          </a:xfrm>
          <a:prstGeom prst="rect">
            <a:avLst/>
          </a:prstGeom>
        </p:spPr>
      </p:pic>
      <p:sp>
        <p:nvSpPr>
          <p:cNvPr id="10" name="Shape 6"/>
          <p:cNvSpPr/>
          <p:nvPr/>
        </p:nvSpPr>
        <p:spPr>
          <a:xfrm>
            <a:off x="6629400" y="1143000"/>
            <a:ext cx="4892040" cy="1143000"/>
          </a:xfrm>
          <a:prstGeom prst="rect">
            <a:avLst/>
          </a:prstGeom>
          <a:solidFill>
            <a:srgbClr val="000000">
              <a:alpha val="0"/>
            </a:srgbClr>
          </a:solidFill>
          <a:ln w="15240">
            <a:solidFill>
              <a:srgbClr val="14B8A6">
                <a:alpha val="65000"/>
              </a:srgbClr>
            </a:solidFill>
            <a:prstDash val="solid"/>
          </a:ln>
        </p:spPr>
      </p:sp>
      <p:sp>
        <p:nvSpPr>
          <p:cNvPr id="11" name="Text 7"/>
          <p:cNvSpPr/>
          <p:nvPr/>
        </p:nvSpPr>
        <p:spPr>
          <a:xfrm>
            <a:off x="6766560" y="2331720"/>
            <a:ext cx="4617720" cy="192024"/>
          </a:xfrm>
          <a:prstGeom prst="rect">
            <a:avLst/>
          </a:prstGeom>
          <a:noFill/>
          <a:ln/>
        </p:spPr>
        <p:txBody>
          <a:bodyPr wrap="square" lIns="0" tIns="0" rIns="0" bIns="0" rtlCol="0" anchor="ctr">
            <a:normAutofit/>
          </a:bodyPr>
          <a:lstStyle/>
          <a:p>
            <a:pPr indent="0" marL="0">
              <a:buNone/>
            </a:pPr>
            <a:r>
              <a:rPr lang="en-US" sz="800" i="1" dirty="0">
                <a:solidFill>
                  <a:srgbClr val="93A4BD"/>
                </a:solidFill>
              </a:rPr>
              <a:t>Printed test-set metrics</a:t>
            </a:r>
            <a:endParaRPr lang="en-US" sz="800" dirty="0"/>
          </a:p>
        </p:txBody>
      </p:sp>
      <p:graphicFrame>
        <p:nvGraphicFramePr>
          <p:cNvPr id="12" name="Chart 0" descr=""/>
          <p:cNvGraphicFramePr/>
          <p:nvPr/>
        </p:nvGraphicFramePr>
        <p:xfrm>
          <a:off x="6537960" y="2788920"/>
          <a:ext cx="4983480" cy="2331720"/>
        </p:xfrm>
        <a:graphic xmlns:a="http://schemas.openxmlformats.org/drawingml/2006/main">
          <a:graphicData uri="http://schemas.openxmlformats.org/drawingml/2006/chart">
            <c:chart xmlns:c="http://schemas.openxmlformats.org/drawingml/2006/chart" r:id="rId3"/>
          </a:graphicData>
        </a:graphic>
      </p:graphicFrame>
      <p:sp>
        <p:nvSpPr>
          <p:cNvPr id="13" name="Text 8"/>
          <p:cNvSpPr/>
          <p:nvPr/>
        </p:nvSpPr>
        <p:spPr>
          <a:xfrm>
            <a:off x="822960" y="5623560"/>
            <a:ext cx="10424160" cy="411480"/>
          </a:xfrm>
          <a:prstGeom prst="rect">
            <a:avLst/>
          </a:prstGeom>
          <a:noFill/>
          <a:ln/>
        </p:spPr>
        <p:txBody>
          <a:bodyPr wrap="square" lIns="1016" tIns="1016" rIns="1016" bIns="1016" rtlCol="0" anchor="ctr">
            <a:normAutofit/>
          </a:bodyPr>
          <a:lstStyle/>
          <a:p>
            <a:pPr indent="0" marL="0">
              <a:buNone/>
            </a:pPr>
            <a:r>
              <a:rPr lang="en-US" sz="1350" dirty="0">
                <a:solidFill>
                  <a:srgbClr val="D5E7FF"/>
                </a:solidFill>
                <a:latin typeface="Aptos" pitchFamily="34" charset="0"/>
                <a:ea typeface="Aptos" pitchFamily="34" charset="-122"/>
                <a:cs typeface="Aptos" pitchFamily="34" charset="-120"/>
              </a:rPr>
              <a:t>Losses converge cleanly. The mAP@50-95 values are lower mainly because tight localization is hard with loosely annotated handwritten regions.</a:t>
            </a:r>
            <a:endParaRPr lang="en-US" sz="1350" dirty="0"/>
          </a:p>
        </p:txBody>
      </p:sp>
      <p:sp>
        <p:nvSpPr>
          <p:cNvPr id="14" name="Text 9"/>
          <p:cNvSpPr/>
          <p:nvPr/>
        </p:nvSpPr>
        <p:spPr>
          <a:xfrm>
            <a:off x="502920" y="6510528"/>
            <a:ext cx="1828800" cy="164592"/>
          </a:xfrm>
          <a:prstGeom prst="rect">
            <a:avLst/>
          </a:prstGeom>
          <a:noFill/>
          <a:ln/>
        </p:spPr>
        <p:txBody>
          <a:bodyPr wrap="square" lIns="0" tIns="0" rIns="0" bIns="0" rtlCol="0" anchor="ctr"/>
          <a:lstStyle/>
          <a:p>
            <a:pPr indent="0" marL="0">
              <a:buNone/>
            </a:pPr>
            <a:r>
              <a:rPr lang="en-US" sz="800" dirty="0">
                <a:solidFill>
                  <a:srgbClr val="93A4BD"/>
                </a:solidFill>
              </a:rPr>
              <a:t>PharmaSafe OCR</a:t>
            </a:r>
            <a:endParaRPr lang="en-US" sz="800" dirty="0"/>
          </a:p>
        </p:txBody>
      </p:sp>
      <p:sp>
        <p:nvSpPr>
          <p:cNvPr id="15" name="Text 10"/>
          <p:cNvSpPr/>
          <p:nvPr/>
        </p:nvSpPr>
        <p:spPr>
          <a:xfrm>
            <a:off x="11247120" y="6483096"/>
            <a:ext cx="457200" cy="201168"/>
          </a:xfrm>
          <a:prstGeom prst="rect">
            <a:avLst/>
          </a:prstGeom>
          <a:noFill/>
          <a:ln/>
        </p:spPr>
        <p:txBody>
          <a:bodyPr wrap="square" lIns="0" tIns="0" rIns="0" bIns="0" rtlCol="0" anchor="ctr"/>
          <a:lstStyle/>
          <a:p>
            <a:pPr algn="r" indent="0" marL="0">
              <a:buNone/>
            </a:pPr>
            <a:r>
              <a:rPr lang="en-US" sz="900" b="1" dirty="0">
                <a:solidFill>
                  <a:srgbClr val="14B8A6"/>
                </a:solidFill>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11F"/>
        </a:solidFill>
      </p:bgPr>
    </p:bg>
    <p:spTree>
      <p:nvGrpSpPr>
        <p:cNvPr id="1" name=""/>
        <p:cNvGrpSpPr/>
        <p:nvPr/>
      </p:nvGrpSpPr>
      <p:grpSpPr>
        <a:xfrm>
          <a:off x="0" y="0"/>
          <a:ext cx="0" cy="0"/>
          <a:chOff x="0" y="0"/>
          <a:chExt cx="0" cy="0"/>
        </a:xfrm>
      </p:grpSpPr>
      <p:sp>
        <p:nvSpPr>
          <p:cNvPr id="2" name="Text 0"/>
          <p:cNvSpPr/>
          <p:nvPr/>
        </p:nvSpPr>
        <p:spPr>
          <a:xfrm>
            <a:off x="502920" y="347472"/>
            <a:ext cx="7132320" cy="411480"/>
          </a:xfrm>
          <a:prstGeom prst="rect">
            <a:avLst/>
          </a:prstGeom>
          <a:noFill/>
          <a:ln/>
        </p:spPr>
        <p:txBody>
          <a:bodyPr wrap="square" lIns="0" tIns="0" rIns="0" bIns="0" rtlCol="0" anchor="ctr">
            <a:normAutofit/>
          </a:bodyPr>
          <a:lstStyle/>
          <a:p>
            <a:pPr indent="0" marL="0">
              <a:buNone/>
            </a:pPr>
            <a:r>
              <a:rPr lang="en-US" sz="2800" b="1" dirty="0">
                <a:solidFill>
                  <a:srgbClr val="EAF2FF"/>
                </a:solidFill>
                <a:latin typeface="Aptos Display" pitchFamily="34" charset="0"/>
                <a:ea typeface="Aptos Display" pitchFamily="34" charset="-122"/>
                <a:cs typeface="Aptos Display" pitchFamily="34" charset="-120"/>
              </a:rPr>
              <a:t>Stage 2 — handwritten OCR with TrOCR</a:t>
            </a:r>
            <a:endParaRPr lang="en-US" sz="2800" dirty="0"/>
          </a:p>
        </p:txBody>
      </p:sp>
      <p:sp>
        <p:nvSpPr>
          <p:cNvPr id="3" name="Text 1"/>
          <p:cNvSpPr/>
          <p:nvPr/>
        </p:nvSpPr>
        <p:spPr>
          <a:xfrm>
            <a:off x="530352" y="804672"/>
            <a:ext cx="6035040" cy="228600"/>
          </a:xfrm>
          <a:prstGeom prst="rect">
            <a:avLst/>
          </a:prstGeom>
          <a:noFill/>
          <a:ln/>
        </p:spPr>
        <p:txBody>
          <a:bodyPr wrap="square" lIns="0" tIns="0" rIns="0" bIns="0" rtlCol="0" anchor="ctr">
            <a:normAutofit/>
          </a:bodyPr>
          <a:lstStyle/>
          <a:p>
            <a:pPr indent="0" marL="0">
              <a:buNone/>
            </a:pPr>
            <a:r>
              <a:rPr lang="en-US" sz="950" dirty="0">
                <a:solidFill>
                  <a:srgbClr val="93A4BD"/>
                </a:solidFill>
              </a:rPr>
              <a:t>Reading each cropped text region using a transformer OCR model</a:t>
            </a:r>
            <a:endParaRPr lang="en-US" sz="950" dirty="0"/>
          </a:p>
        </p:txBody>
      </p:sp>
      <p:sp>
        <p:nvSpPr>
          <p:cNvPr id="4" name="Shape 2"/>
          <p:cNvSpPr/>
          <p:nvPr/>
        </p:nvSpPr>
        <p:spPr>
          <a:xfrm>
            <a:off x="502920" y="1069848"/>
            <a:ext cx="1828800" cy="0"/>
          </a:xfrm>
          <a:prstGeom prst="line">
            <a:avLst/>
          </a:prstGeom>
          <a:noFill/>
          <a:ln w="25400">
            <a:solidFill>
              <a:srgbClr val="14B8A6"/>
            </a:solidFill>
            <a:prstDash val="solid"/>
          </a:ln>
        </p:spPr>
      </p:sp>
      <p:sp>
        <p:nvSpPr>
          <p:cNvPr id="5" name="Shape 3"/>
          <p:cNvSpPr/>
          <p:nvPr/>
        </p:nvSpPr>
        <p:spPr>
          <a:xfrm>
            <a:off x="2423160" y="1069848"/>
            <a:ext cx="640080" cy="0"/>
          </a:xfrm>
          <a:prstGeom prst="line">
            <a:avLst/>
          </a:prstGeom>
          <a:noFill/>
          <a:ln w="25400">
            <a:solidFill>
              <a:srgbClr val="F97316"/>
            </a:solidFill>
            <a:prstDash val="solid"/>
          </a:ln>
        </p:spPr>
      </p:sp>
      <p:pic>
        <p:nvPicPr>
          <p:cNvPr id="6" name="Image 0" descr="/mnt/data/pharmasafe_docx_media/word/media/image5.jpg">    </p:cNvPr>
          <p:cNvPicPr>
            <a:picLocks noChangeAspect="1"/>
          </p:cNvPicPr>
          <p:nvPr/>
        </p:nvPicPr>
        <p:blipFill>
          <a:blip r:embed="rId1"/>
          <a:stretch>
            <a:fillRect/>
          </a:stretch>
        </p:blipFill>
        <p:spPr>
          <a:xfrm>
            <a:off x="6263640" y="1363331"/>
            <a:ext cx="5257800" cy="3902738"/>
          </a:xfrm>
          <a:prstGeom prst="rect">
            <a:avLst/>
          </a:prstGeom>
        </p:spPr>
      </p:pic>
      <p:sp>
        <p:nvSpPr>
          <p:cNvPr id="7" name="Shape 4"/>
          <p:cNvSpPr/>
          <p:nvPr/>
        </p:nvSpPr>
        <p:spPr>
          <a:xfrm>
            <a:off x="6263640" y="1051560"/>
            <a:ext cx="5257800" cy="4526280"/>
          </a:xfrm>
          <a:prstGeom prst="rect">
            <a:avLst/>
          </a:prstGeom>
          <a:solidFill>
            <a:srgbClr val="000000">
              <a:alpha val="0"/>
            </a:srgbClr>
          </a:solidFill>
          <a:ln w="15240">
            <a:solidFill>
              <a:srgbClr val="14B8A6">
                <a:alpha val="65000"/>
              </a:srgbClr>
            </a:solidFill>
            <a:prstDash val="solid"/>
          </a:ln>
        </p:spPr>
      </p:sp>
      <p:sp>
        <p:nvSpPr>
          <p:cNvPr id="8" name="Text 5"/>
          <p:cNvSpPr/>
          <p:nvPr/>
        </p:nvSpPr>
        <p:spPr>
          <a:xfrm>
            <a:off x="6400800" y="5623560"/>
            <a:ext cx="4983480" cy="192024"/>
          </a:xfrm>
          <a:prstGeom prst="rect">
            <a:avLst/>
          </a:prstGeom>
          <a:noFill/>
          <a:ln/>
        </p:spPr>
        <p:txBody>
          <a:bodyPr wrap="square" lIns="0" tIns="0" rIns="0" bIns="0" rtlCol="0" anchor="ctr">
            <a:normAutofit/>
          </a:bodyPr>
          <a:lstStyle/>
          <a:p>
            <a:pPr indent="0" marL="0">
              <a:buNone/>
            </a:pPr>
            <a:r>
              <a:rPr lang="en-US" sz="800" i="1" dirty="0">
                <a:solidFill>
                  <a:srgbClr val="93A4BD"/>
                </a:solidFill>
              </a:rPr>
              <a:t>TrOCR test samples: green = exact match, red = incorrect</a:t>
            </a:r>
            <a:endParaRPr lang="en-US" sz="800" dirty="0"/>
          </a:p>
        </p:txBody>
      </p:sp>
      <p:sp>
        <p:nvSpPr>
          <p:cNvPr id="9" name="Text 6"/>
          <p:cNvSpPr/>
          <p:nvPr/>
        </p:nvSpPr>
        <p:spPr>
          <a:xfrm>
            <a:off x="658368" y="1280160"/>
            <a:ext cx="1645920" cy="219456"/>
          </a:xfrm>
          <a:prstGeom prst="rect">
            <a:avLst/>
          </a:prstGeom>
          <a:noFill/>
          <a:ln/>
        </p:spPr>
        <p:txBody>
          <a:bodyPr wrap="square" lIns="0" tIns="0" rIns="0" bIns="0" rtlCol="0" anchor="ctr"/>
          <a:lstStyle/>
          <a:p>
            <a:pPr indent="0" marL="0">
              <a:buNone/>
            </a:pPr>
            <a:r>
              <a:rPr lang="en-US" sz="750" b="1" dirty="0">
                <a:solidFill>
                  <a:srgbClr val="14B8A6"/>
                </a:solidFill>
              </a:rPr>
              <a:t>INPUT / OUTPUT</a:t>
            </a:r>
            <a:endParaRPr lang="en-US" sz="750" dirty="0"/>
          </a:p>
        </p:txBody>
      </p:sp>
      <p:sp>
        <p:nvSpPr>
          <p:cNvPr id="10" name="Text 7"/>
          <p:cNvSpPr/>
          <p:nvPr/>
        </p:nvSpPr>
        <p:spPr>
          <a:xfrm>
            <a:off x="658368" y="1572768"/>
            <a:ext cx="4892040" cy="685800"/>
          </a:xfrm>
          <a:prstGeom prst="rect">
            <a:avLst/>
          </a:prstGeom>
          <a:noFill/>
          <a:ln/>
        </p:spPr>
        <p:txBody>
          <a:bodyPr wrap="square" lIns="1016" tIns="1016" rIns="1016" bIns="1016" rtlCol="0" anchor="ctr">
            <a:normAutofit/>
          </a:bodyPr>
          <a:lstStyle/>
          <a:p>
            <a:pPr indent="0" marL="0">
              <a:buNone/>
            </a:pPr>
            <a:r>
              <a:rPr lang="en-US" sz="1600" dirty="0">
                <a:solidFill>
                  <a:srgbClr val="D5E7FF"/>
                </a:solidFill>
                <a:latin typeface="Aptos" pitchFamily="34" charset="0"/>
                <a:ea typeface="Aptos" pitchFamily="34" charset="-122"/>
                <a:cs typeface="Aptos" pitchFamily="34" charset="-120"/>
              </a:rPr>
              <a:t>Input: 384×384 RGB crop from Stage 1</a:t>
            </a:r>
            <a:endParaRPr lang="en-US" sz="1600" dirty="0"/>
          </a:p>
          <a:p>
            <a:pPr indent="0" marL="0">
              <a:buNone/>
            </a:pPr>
            <a:r>
              <a:rPr lang="en-US" sz="1600" dirty="0">
                <a:solidFill>
                  <a:srgbClr val="D5E7FF"/>
                </a:solidFill>
                <a:latin typeface="Aptos" pitchFamily="34" charset="0"/>
                <a:ea typeface="Aptos" pitchFamily="34" charset="-122"/>
                <a:cs typeface="Aptos" pitchFamily="34" charset="-120"/>
              </a:rPr>
              <a:t>Output: raw text string per crop</a:t>
            </a:r>
            <a:endParaRPr lang="en-US" sz="1600" dirty="0"/>
          </a:p>
        </p:txBody>
      </p:sp>
      <p:sp>
        <p:nvSpPr>
          <p:cNvPr id="11" name="Text 8"/>
          <p:cNvSpPr/>
          <p:nvPr/>
        </p:nvSpPr>
        <p:spPr>
          <a:xfrm>
            <a:off x="658368" y="2514600"/>
            <a:ext cx="1645920" cy="219456"/>
          </a:xfrm>
          <a:prstGeom prst="rect">
            <a:avLst/>
          </a:prstGeom>
          <a:noFill/>
          <a:ln/>
        </p:spPr>
        <p:txBody>
          <a:bodyPr wrap="square" lIns="0" tIns="0" rIns="0" bIns="0" rtlCol="0" anchor="ctr"/>
          <a:lstStyle/>
          <a:p>
            <a:pPr indent="0" marL="0">
              <a:buNone/>
            </a:pPr>
            <a:r>
              <a:rPr lang="en-US" sz="750" b="1" dirty="0">
                <a:solidFill>
                  <a:srgbClr val="F97316"/>
                </a:solidFill>
              </a:rPr>
              <a:t>WHY TROCR?</a:t>
            </a:r>
            <a:endParaRPr lang="en-US" sz="750" dirty="0"/>
          </a:p>
        </p:txBody>
      </p:sp>
      <p:sp>
        <p:nvSpPr>
          <p:cNvPr id="12" name="Text 9"/>
          <p:cNvSpPr/>
          <p:nvPr/>
        </p:nvSpPr>
        <p:spPr>
          <a:xfrm>
            <a:off x="658368" y="2788920"/>
            <a:ext cx="4983480" cy="1005840"/>
          </a:xfrm>
          <a:prstGeom prst="rect">
            <a:avLst/>
          </a:prstGeom>
          <a:noFill/>
          <a:ln/>
        </p:spPr>
        <p:txBody>
          <a:bodyPr wrap="square" lIns="762" tIns="762" rIns="762" bIns="762" rtlCol="0" anchor="ctr">
            <a:normAutofit/>
          </a:bodyPr>
          <a:lstStyle/>
          <a:p>
            <a:pPr indent="0" marL="0">
              <a:buNone/>
            </a:pPr>
            <a:r>
              <a:rPr lang="en-US" sz="1400" b="1" dirty="0">
                <a:solidFill>
                  <a:srgbClr val="14B8A6"/>
                </a:solidFill>
              </a:rPr>
              <a:t>• </a:t>
            </a:r>
            <a:pPr indent="0" marL="0">
              <a:buNone/>
            </a:pPr>
            <a:r>
              <a:rPr lang="en-US" sz="1400" dirty="0">
                <a:solidFill>
                  <a:srgbClr val="D5E7FF"/>
                </a:solidFill>
              </a:rPr>
              <a:t>Traditional OCR struggles with handwriting
</a:t>
            </a:r>
            <a:pPr indent="0" marL="0">
              <a:buNone/>
            </a:pPr>
            <a:r>
              <a:rPr lang="en-US" sz="1400" b="1" dirty="0">
                <a:solidFill>
                  <a:srgbClr val="14B8A6"/>
                </a:solidFill>
              </a:rPr>
              <a:t>• </a:t>
            </a:r>
            <a:pPr indent="0" marL="0">
              <a:buNone/>
            </a:pPr>
            <a:r>
              <a:rPr lang="en-US" sz="1400" dirty="0">
                <a:solidFill>
                  <a:srgbClr val="D5E7FF"/>
                </a:solidFill>
              </a:rPr>
              <a:t>TrOCR is pre-trained for handwritten text
</a:t>
            </a:r>
            <a:pPr indent="0" marL="0">
              <a:buNone/>
            </a:pPr>
            <a:r>
              <a:rPr lang="en-US" sz="1400" b="1" dirty="0">
                <a:solidFill>
                  <a:srgbClr val="14B8A6"/>
                </a:solidFill>
              </a:rPr>
              <a:t>• </a:t>
            </a:r>
            <a:pPr indent="0" marL="0">
              <a:buNone/>
            </a:pPr>
            <a:r>
              <a:rPr lang="en-US" sz="1400" dirty="0">
                <a:solidFill>
                  <a:srgbClr val="D5E7FF"/>
                </a:solidFill>
              </a:rPr>
              <a:t>Encoder-decoder design handles variable-length drug names</a:t>
            </a:r>
            <a:endParaRPr lang="en-US" sz="1400" dirty="0"/>
          </a:p>
        </p:txBody>
      </p:sp>
      <p:sp>
        <p:nvSpPr>
          <p:cNvPr id="13" name="Text 10"/>
          <p:cNvSpPr/>
          <p:nvPr/>
        </p:nvSpPr>
        <p:spPr>
          <a:xfrm>
            <a:off x="658368" y="4297680"/>
            <a:ext cx="2194560" cy="219456"/>
          </a:xfrm>
          <a:prstGeom prst="rect">
            <a:avLst/>
          </a:prstGeom>
          <a:noFill/>
          <a:ln/>
        </p:spPr>
        <p:txBody>
          <a:bodyPr wrap="square" lIns="0" tIns="0" rIns="0" bIns="0" rtlCol="0" anchor="ctr"/>
          <a:lstStyle/>
          <a:p>
            <a:pPr indent="0" marL="0">
              <a:buNone/>
            </a:pPr>
            <a:r>
              <a:rPr lang="en-US" sz="750" b="1" dirty="0">
                <a:solidFill>
                  <a:srgbClr val="22D3EE"/>
                </a:solidFill>
              </a:rPr>
              <a:t>FINE-TUNING STRATEGY</a:t>
            </a:r>
            <a:endParaRPr lang="en-US" sz="750" dirty="0"/>
          </a:p>
        </p:txBody>
      </p:sp>
      <p:sp>
        <p:nvSpPr>
          <p:cNvPr id="14" name="Text 11"/>
          <p:cNvSpPr/>
          <p:nvPr/>
        </p:nvSpPr>
        <p:spPr>
          <a:xfrm>
            <a:off x="658368" y="4617720"/>
            <a:ext cx="2286000" cy="502920"/>
          </a:xfrm>
          <a:prstGeom prst="rect">
            <a:avLst/>
          </a:prstGeom>
          <a:solidFill>
            <a:srgbClr val="14243A">
              <a:alpha val="96000"/>
            </a:srgbClr>
          </a:solidFill>
          <a:ln w="15240">
            <a:solidFill>
              <a:srgbClr val="22D3EE">
                <a:alpha val="90000"/>
              </a:srgbClr>
            </a:solidFill>
          </a:ln>
        </p:spPr>
        <p:txBody>
          <a:bodyPr wrap="square" lIns="889" tIns="889" rIns="889" bIns="889" rtlCol="0" anchor="ctr">
            <a:normAutofit/>
          </a:bodyPr>
          <a:lstStyle/>
          <a:p>
            <a:pPr algn="ctr" indent="0" marL="0">
              <a:buNone/>
            </a:pPr>
            <a:r>
              <a:rPr lang="en-US" sz="1350" b="1" dirty="0">
                <a:solidFill>
                  <a:srgbClr val="EAF2FF"/>
                </a:solidFill>
              </a:rPr>
              <a:t>Stage A: decoder only, 5 epochs</a:t>
            </a:r>
            <a:endParaRPr lang="en-US" sz="1350" dirty="0"/>
          </a:p>
        </p:txBody>
      </p:sp>
      <p:sp>
        <p:nvSpPr>
          <p:cNvPr id="15" name="Text 12"/>
          <p:cNvSpPr/>
          <p:nvPr/>
        </p:nvSpPr>
        <p:spPr>
          <a:xfrm>
            <a:off x="3154680" y="4617720"/>
            <a:ext cx="2286000" cy="502920"/>
          </a:xfrm>
          <a:prstGeom prst="rect">
            <a:avLst/>
          </a:prstGeom>
          <a:solidFill>
            <a:srgbClr val="14243A">
              <a:alpha val="96000"/>
            </a:srgbClr>
          </a:solidFill>
          <a:ln w="15240">
            <a:solidFill>
              <a:srgbClr val="8B5CF6">
                <a:alpha val="90000"/>
              </a:srgbClr>
            </a:solidFill>
          </a:ln>
        </p:spPr>
        <p:txBody>
          <a:bodyPr wrap="square" lIns="889" tIns="889" rIns="889" bIns="889" rtlCol="0" anchor="ctr">
            <a:normAutofit/>
          </a:bodyPr>
          <a:lstStyle/>
          <a:p>
            <a:pPr algn="ctr" indent="0" marL="0">
              <a:buNone/>
            </a:pPr>
            <a:r>
              <a:rPr lang="en-US" sz="1350" b="1" dirty="0">
                <a:solidFill>
                  <a:srgbClr val="EAF2FF"/>
                </a:solidFill>
              </a:rPr>
              <a:t>Stage B: full model, lower LR</a:t>
            </a:r>
            <a:endParaRPr lang="en-US" sz="1350" dirty="0"/>
          </a:p>
        </p:txBody>
      </p:sp>
      <p:sp>
        <p:nvSpPr>
          <p:cNvPr id="16" name="Text 13"/>
          <p:cNvSpPr/>
          <p:nvPr/>
        </p:nvSpPr>
        <p:spPr>
          <a:xfrm>
            <a:off x="502920" y="6510528"/>
            <a:ext cx="1828800" cy="164592"/>
          </a:xfrm>
          <a:prstGeom prst="rect">
            <a:avLst/>
          </a:prstGeom>
          <a:noFill/>
          <a:ln/>
        </p:spPr>
        <p:txBody>
          <a:bodyPr wrap="square" lIns="0" tIns="0" rIns="0" bIns="0" rtlCol="0" anchor="ctr"/>
          <a:lstStyle/>
          <a:p>
            <a:pPr indent="0" marL="0">
              <a:buNone/>
            </a:pPr>
            <a:r>
              <a:rPr lang="en-US" sz="800" dirty="0">
                <a:solidFill>
                  <a:srgbClr val="93A4BD"/>
                </a:solidFill>
              </a:rPr>
              <a:t>PharmaSafe OCR</a:t>
            </a:r>
            <a:endParaRPr lang="en-US" sz="800" dirty="0"/>
          </a:p>
        </p:txBody>
      </p:sp>
      <p:sp>
        <p:nvSpPr>
          <p:cNvPr id="17" name="Text 14"/>
          <p:cNvSpPr/>
          <p:nvPr/>
        </p:nvSpPr>
        <p:spPr>
          <a:xfrm>
            <a:off x="11247120" y="6483096"/>
            <a:ext cx="457200" cy="201168"/>
          </a:xfrm>
          <a:prstGeom prst="rect">
            <a:avLst/>
          </a:prstGeom>
          <a:noFill/>
          <a:ln/>
        </p:spPr>
        <p:txBody>
          <a:bodyPr wrap="square" lIns="0" tIns="0" rIns="0" bIns="0" rtlCol="0" anchor="ctr"/>
          <a:lstStyle/>
          <a:p>
            <a:pPr algn="r" indent="0" marL="0">
              <a:buNone/>
            </a:pPr>
            <a:r>
              <a:rPr lang="en-US" sz="900" b="1" dirty="0">
                <a:solidFill>
                  <a:srgbClr val="14B8A6"/>
                </a:solidFill>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111F"/>
        </a:solidFill>
      </p:bgPr>
    </p:bg>
    <p:spTree>
      <p:nvGrpSpPr>
        <p:cNvPr id="1" name=""/>
        <p:cNvGrpSpPr/>
        <p:nvPr/>
      </p:nvGrpSpPr>
      <p:grpSpPr>
        <a:xfrm>
          <a:off x="0" y="0"/>
          <a:ext cx="0" cy="0"/>
          <a:chOff x="0" y="0"/>
          <a:chExt cx="0" cy="0"/>
        </a:xfrm>
      </p:grpSpPr>
      <p:sp>
        <p:nvSpPr>
          <p:cNvPr id="2" name="Text 0"/>
          <p:cNvSpPr/>
          <p:nvPr/>
        </p:nvSpPr>
        <p:spPr>
          <a:xfrm>
            <a:off x="502920" y="347472"/>
            <a:ext cx="7132320" cy="411480"/>
          </a:xfrm>
          <a:prstGeom prst="rect">
            <a:avLst/>
          </a:prstGeom>
          <a:noFill/>
          <a:ln/>
        </p:spPr>
        <p:txBody>
          <a:bodyPr wrap="square" lIns="0" tIns="0" rIns="0" bIns="0" rtlCol="0" anchor="ctr">
            <a:normAutofit/>
          </a:bodyPr>
          <a:lstStyle/>
          <a:p>
            <a:pPr indent="0" marL="0">
              <a:buNone/>
            </a:pPr>
            <a:r>
              <a:rPr lang="en-US" sz="2800" b="1" dirty="0">
                <a:solidFill>
                  <a:srgbClr val="EAF2FF"/>
                </a:solidFill>
                <a:latin typeface="Aptos Display" pitchFamily="34" charset="0"/>
                <a:ea typeface="Aptos Display" pitchFamily="34" charset="-122"/>
                <a:cs typeface="Aptos Display" pitchFamily="34" charset="-120"/>
              </a:rPr>
              <a:t>Stage 2 results</a:t>
            </a:r>
            <a:endParaRPr lang="en-US" sz="2800" dirty="0"/>
          </a:p>
        </p:txBody>
      </p:sp>
      <p:sp>
        <p:nvSpPr>
          <p:cNvPr id="3" name="Text 1"/>
          <p:cNvSpPr/>
          <p:nvPr/>
        </p:nvSpPr>
        <p:spPr>
          <a:xfrm>
            <a:off x="530352" y="804672"/>
            <a:ext cx="6035040" cy="228600"/>
          </a:xfrm>
          <a:prstGeom prst="rect">
            <a:avLst/>
          </a:prstGeom>
          <a:noFill/>
          <a:ln/>
        </p:spPr>
        <p:txBody>
          <a:bodyPr wrap="square" lIns="0" tIns="0" rIns="0" bIns="0" rtlCol="0" anchor="ctr">
            <a:normAutofit/>
          </a:bodyPr>
          <a:lstStyle/>
          <a:p>
            <a:pPr indent="0" marL="0">
              <a:buNone/>
            </a:pPr>
            <a:r>
              <a:rPr lang="en-US" sz="950" dirty="0">
                <a:solidFill>
                  <a:srgbClr val="93A4BD"/>
                </a:solidFill>
              </a:rPr>
              <a:t>Strong word-level performance on handwritten drug names</a:t>
            </a:r>
            <a:endParaRPr lang="en-US" sz="950" dirty="0"/>
          </a:p>
        </p:txBody>
      </p:sp>
      <p:sp>
        <p:nvSpPr>
          <p:cNvPr id="4" name="Shape 2"/>
          <p:cNvSpPr/>
          <p:nvPr/>
        </p:nvSpPr>
        <p:spPr>
          <a:xfrm>
            <a:off x="502920" y="1069848"/>
            <a:ext cx="1828800" cy="0"/>
          </a:xfrm>
          <a:prstGeom prst="line">
            <a:avLst/>
          </a:prstGeom>
          <a:noFill/>
          <a:ln w="25400">
            <a:solidFill>
              <a:srgbClr val="14B8A6"/>
            </a:solidFill>
            <a:prstDash val="solid"/>
          </a:ln>
        </p:spPr>
      </p:sp>
      <p:sp>
        <p:nvSpPr>
          <p:cNvPr id="5" name="Shape 3"/>
          <p:cNvSpPr/>
          <p:nvPr/>
        </p:nvSpPr>
        <p:spPr>
          <a:xfrm>
            <a:off x="2423160" y="1069848"/>
            <a:ext cx="640080" cy="0"/>
          </a:xfrm>
          <a:prstGeom prst="line">
            <a:avLst/>
          </a:prstGeom>
          <a:noFill/>
          <a:ln w="25400">
            <a:solidFill>
              <a:srgbClr val="F97316"/>
            </a:solidFill>
            <a:prstDash val="solid"/>
          </a:ln>
        </p:spPr>
      </p:sp>
      <p:pic>
        <p:nvPicPr>
          <p:cNvPr id="6" name="Image 0" descr="/mnt/data/pharmasafe_docx_media/word/media/image4.jpg">    </p:cNvPr>
          <p:cNvPicPr>
            <a:picLocks noChangeAspect="1"/>
          </p:cNvPicPr>
          <p:nvPr/>
        </p:nvPicPr>
        <p:blipFill>
          <a:blip r:embed="rId1"/>
          <a:stretch>
            <a:fillRect/>
          </a:stretch>
        </p:blipFill>
        <p:spPr>
          <a:xfrm>
            <a:off x="6172200" y="1747735"/>
            <a:ext cx="5303520" cy="2036650"/>
          </a:xfrm>
          <a:prstGeom prst="rect">
            <a:avLst/>
          </a:prstGeom>
        </p:spPr>
      </p:pic>
      <p:sp>
        <p:nvSpPr>
          <p:cNvPr id="7" name="Shape 4"/>
          <p:cNvSpPr/>
          <p:nvPr/>
        </p:nvSpPr>
        <p:spPr>
          <a:xfrm>
            <a:off x="6172200" y="1234440"/>
            <a:ext cx="5303520" cy="3063240"/>
          </a:xfrm>
          <a:prstGeom prst="rect">
            <a:avLst/>
          </a:prstGeom>
          <a:solidFill>
            <a:srgbClr val="000000">
              <a:alpha val="0"/>
            </a:srgbClr>
          </a:solidFill>
          <a:ln w="15240">
            <a:solidFill>
              <a:srgbClr val="14B8A6">
                <a:alpha val="65000"/>
              </a:srgbClr>
            </a:solidFill>
            <a:prstDash val="solid"/>
          </a:ln>
        </p:spPr>
      </p:sp>
      <p:sp>
        <p:nvSpPr>
          <p:cNvPr id="8" name="Text 5"/>
          <p:cNvSpPr/>
          <p:nvPr/>
        </p:nvSpPr>
        <p:spPr>
          <a:xfrm>
            <a:off x="6309360" y="4343400"/>
            <a:ext cx="5029200" cy="192024"/>
          </a:xfrm>
          <a:prstGeom prst="rect">
            <a:avLst/>
          </a:prstGeom>
          <a:noFill/>
          <a:ln/>
        </p:spPr>
        <p:txBody>
          <a:bodyPr wrap="square" lIns="0" tIns="0" rIns="0" bIns="0" rtlCol="0" anchor="ctr">
            <a:normAutofit/>
          </a:bodyPr>
          <a:lstStyle/>
          <a:p>
            <a:pPr indent="0" marL="0">
              <a:buNone/>
            </a:pPr>
            <a:r>
              <a:rPr lang="en-US" sz="800" i="1" dirty="0">
                <a:solidFill>
                  <a:srgbClr val="93A4BD"/>
                </a:solidFill>
              </a:rPr>
              <a:t>Validation CER and WER during fine-tuning</a:t>
            </a:r>
            <a:endParaRPr lang="en-US" sz="800" dirty="0"/>
          </a:p>
        </p:txBody>
      </p:sp>
      <p:sp>
        <p:nvSpPr>
          <p:cNvPr id="9" name="Text 6"/>
          <p:cNvSpPr/>
          <p:nvPr/>
        </p:nvSpPr>
        <p:spPr>
          <a:xfrm>
            <a:off x="685800" y="1417320"/>
            <a:ext cx="2286000" cy="475488"/>
          </a:xfrm>
          <a:prstGeom prst="rect">
            <a:avLst/>
          </a:prstGeom>
          <a:noFill/>
          <a:ln/>
        </p:spPr>
        <p:txBody>
          <a:bodyPr wrap="square" lIns="0" tIns="0" rIns="0" bIns="0" rtlCol="0" anchor="ctr">
            <a:normAutofit/>
          </a:bodyPr>
          <a:lstStyle/>
          <a:p>
            <a:pPr indent="0" marL="0">
              <a:buNone/>
            </a:pPr>
            <a:r>
              <a:rPr lang="en-US" sz="2600" b="1" dirty="0">
                <a:solidFill>
                  <a:srgbClr val="14B8A6"/>
                </a:solidFill>
              </a:rPr>
              <a:t>90.8%</a:t>
            </a:r>
            <a:endParaRPr lang="en-US" sz="2600" dirty="0"/>
          </a:p>
        </p:txBody>
      </p:sp>
      <p:sp>
        <p:nvSpPr>
          <p:cNvPr id="10" name="Text 7"/>
          <p:cNvSpPr/>
          <p:nvPr/>
        </p:nvSpPr>
        <p:spPr>
          <a:xfrm>
            <a:off x="685800" y="1901952"/>
            <a:ext cx="228600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exact match on test set (830/914)</a:t>
            </a:r>
            <a:endParaRPr lang="en-US" sz="950" dirty="0"/>
          </a:p>
        </p:txBody>
      </p:sp>
      <p:sp>
        <p:nvSpPr>
          <p:cNvPr id="11" name="Text 8"/>
          <p:cNvSpPr/>
          <p:nvPr/>
        </p:nvSpPr>
        <p:spPr>
          <a:xfrm>
            <a:off x="3291840" y="1417320"/>
            <a:ext cx="1920240" cy="475488"/>
          </a:xfrm>
          <a:prstGeom prst="rect">
            <a:avLst/>
          </a:prstGeom>
          <a:noFill/>
          <a:ln/>
        </p:spPr>
        <p:txBody>
          <a:bodyPr wrap="square" lIns="0" tIns="0" rIns="0" bIns="0" rtlCol="0" anchor="ctr">
            <a:normAutofit/>
          </a:bodyPr>
          <a:lstStyle/>
          <a:p>
            <a:pPr indent="0" marL="0">
              <a:buNone/>
            </a:pPr>
            <a:r>
              <a:rPr lang="en-US" sz="2600" b="1" dirty="0">
                <a:solidFill>
                  <a:srgbClr val="22D3EE"/>
                </a:solidFill>
              </a:rPr>
              <a:t>0.0647</a:t>
            </a:r>
            <a:endParaRPr lang="en-US" sz="2600" dirty="0"/>
          </a:p>
        </p:txBody>
      </p:sp>
      <p:sp>
        <p:nvSpPr>
          <p:cNvPr id="12" name="Text 9"/>
          <p:cNvSpPr/>
          <p:nvPr/>
        </p:nvSpPr>
        <p:spPr>
          <a:xfrm>
            <a:off x="3291840" y="1901952"/>
            <a:ext cx="192024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character error rate</a:t>
            </a:r>
            <a:endParaRPr lang="en-US" sz="950" dirty="0"/>
          </a:p>
        </p:txBody>
      </p:sp>
      <p:sp>
        <p:nvSpPr>
          <p:cNvPr id="13" name="Text 10"/>
          <p:cNvSpPr/>
          <p:nvPr/>
        </p:nvSpPr>
        <p:spPr>
          <a:xfrm>
            <a:off x="685800" y="2834640"/>
            <a:ext cx="1920240" cy="475488"/>
          </a:xfrm>
          <a:prstGeom prst="rect">
            <a:avLst/>
          </a:prstGeom>
          <a:noFill/>
          <a:ln/>
        </p:spPr>
        <p:txBody>
          <a:bodyPr wrap="square" lIns="0" tIns="0" rIns="0" bIns="0" rtlCol="0" anchor="ctr">
            <a:normAutofit/>
          </a:bodyPr>
          <a:lstStyle/>
          <a:p>
            <a:pPr indent="0" marL="0">
              <a:buNone/>
            </a:pPr>
            <a:r>
              <a:rPr lang="en-US" sz="2600" b="1" dirty="0">
                <a:solidFill>
                  <a:srgbClr val="F97316"/>
                </a:solidFill>
              </a:rPr>
              <a:t>0.161</a:t>
            </a:r>
            <a:endParaRPr lang="en-US" sz="2600" dirty="0"/>
          </a:p>
        </p:txBody>
      </p:sp>
      <p:sp>
        <p:nvSpPr>
          <p:cNvPr id="14" name="Text 11"/>
          <p:cNvSpPr/>
          <p:nvPr/>
        </p:nvSpPr>
        <p:spPr>
          <a:xfrm>
            <a:off x="685800" y="3319272"/>
            <a:ext cx="192024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word error rate</a:t>
            </a:r>
            <a:endParaRPr lang="en-US" sz="950" dirty="0"/>
          </a:p>
        </p:txBody>
      </p:sp>
      <p:sp>
        <p:nvSpPr>
          <p:cNvPr id="15" name="Text 12"/>
          <p:cNvSpPr/>
          <p:nvPr/>
        </p:nvSpPr>
        <p:spPr>
          <a:xfrm>
            <a:off x="3291840" y="2834640"/>
            <a:ext cx="2057400" cy="475488"/>
          </a:xfrm>
          <a:prstGeom prst="rect">
            <a:avLst/>
          </a:prstGeom>
          <a:noFill/>
          <a:ln/>
        </p:spPr>
        <p:txBody>
          <a:bodyPr wrap="square" lIns="0" tIns="0" rIns="0" bIns="0" rtlCol="0" anchor="ctr">
            <a:normAutofit/>
          </a:bodyPr>
          <a:lstStyle/>
          <a:p>
            <a:pPr indent="0" marL="0">
              <a:buNone/>
            </a:pPr>
            <a:r>
              <a:rPr lang="en-US" sz="2600" b="1" dirty="0">
                <a:solidFill>
                  <a:srgbClr val="8B5CF6"/>
                </a:solidFill>
              </a:rPr>
              <a:t>~0.91</a:t>
            </a:r>
            <a:endParaRPr lang="en-US" sz="2600" dirty="0"/>
          </a:p>
        </p:txBody>
      </p:sp>
      <p:sp>
        <p:nvSpPr>
          <p:cNvPr id="16" name="Text 13"/>
          <p:cNvSpPr/>
          <p:nvPr/>
        </p:nvSpPr>
        <p:spPr>
          <a:xfrm>
            <a:off x="3291840" y="3319272"/>
            <a:ext cx="205740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Drug F1 using rapidfuzz ≥ 90</a:t>
            </a:r>
            <a:endParaRPr lang="en-US" sz="950" dirty="0"/>
          </a:p>
        </p:txBody>
      </p:sp>
      <p:sp>
        <p:nvSpPr>
          <p:cNvPr id="17" name="Text 14"/>
          <p:cNvSpPr/>
          <p:nvPr/>
        </p:nvSpPr>
        <p:spPr>
          <a:xfrm>
            <a:off x="713232" y="4617720"/>
            <a:ext cx="5120640" cy="594360"/>
          </a:xfrm>
          <a:prstGeom prst="rect">
            <a:avLst/>
          </a:prstGeom>
          <a:noFill/>
          <a:ln/>
        </p:spPr>
        <p:txBody>
          <a:bodyPr wrap="square" lIns="1016" tIns="1016" rIns="1016" bIns="1016" rtlCol="0" anchor="ctr">
            <a:normAutofit/>
          </a:bodyPr>
          <a:lstStyle/>
          <a:p>
            <a:pPr indent="0" marL="0">
              <a:buNone/>
            </a:pPr>
            <a:r>
              <a:rPr lang="en-US" sz="1450" dirty="0">
                <a:solidFill>
                  <a:srgbClr val="D5E7FF"/>
                </a:solidFill>
                <a:latin typeface="Aptos" pitchFamily="34" charset="0"/>
                <a:ea typeface="Aptos" pitchFamily="34" charset="-122"/>
                <a:cs typeface="Aptos" pitchFamily="34" charset="-120"/>
              </a:rPr>
              <a:t>Main failure mode: visually similar drug names, e.g., cephalosporin antibiotics that look close in handwriting.</a:t>
            </a:r>
            <a:endParaRPr lang="en-US" sz="1450" dirty="0"/>
          </a:p>
        </p:txBody>
      </p:sp>
      <p:sp>
        <p:nvSpPr>
          <p:cNvPr id="18" name="Text 15"/>
          <p:cNvSpPr/>
          <p:nvPr/>
        </p:nvSpPr>
        <p:spPr>
          <a:xfrm>
            <a:off x="6236208" y="4709160"/>
            <a:ext cx="5212080" cy="640080"/>
          </a:xfrm>
          <a:prstGeom prst="rect">
            <a:avLst/>
          </a:prstGeom>
          <a:solidFill>
            <a:srgbClr val="0F1F35">
              <a:alpha val="96000"/>
            </a:srgbClr>
          </a:solidFill>
          <a:ln w="15240">
            <a:solidFill>
              <a:srgbClr val="F97316">
                <a:alpha val="90000"/>
              </a:srgbClr>
            </a:solidFill>
          </a:ln>
        </p:spPr>
        <p:txBody>
          <a:bodyPr wrap="square" lIns="889" tIns="889" rIns="889" bIns="889" rtlCol="0" anchor="ctr">
            <a:normAutofit/>
          </a:bodyPr>
          <a:lstStyle/>
          <a:p>
            <a:pPr algn="ctr" indent="0" marL="0">
              <a:buNone/>
            </a:pPr>
            <a:r>
              <a:rPr lang="en-US" sz="1350" b="1" dirty="0">
                <a:solidFill>
                  <a:srgbClr val="D5E7FF"/>
                </a:solidFill>
              </a:rPr>
              <a:t>Known limitation: numeric dosage OCR can suffer from TrOCR letter bias, e.g., 500mg → SOO mg.</a:t>
            </a:r>
            <a:endParaRPr lang="en-US" sz="1350" dirty="0"/>
          </a:p>
        </p:txBody>
      </p:sp>
      <p:sp>
        <p:nvSpPr>
          <p:cNvPr id="19" name="Text 16"/>
          <p:cNvSpPr/>
          <p:nvPr/>
        </p:nvSpPr>
        <p:spPr>
          <a:xfrm>
            <a:off x="502920" y="6510528"/>
            <a:ext cx="1828800" cy="164592"/>
          </a:xfrm>
          <a:prstGeom prst="rect">
            <a:avLst/>
          </a:prstGeom>
          <a:noFill/>
          <a:ln/>
        </p:spPr>
        <p:txBody>
          <a:bodyPr wrap="square" lIns="0" tIns="0" rIns="0" bIns="0" rtlCol="0" anchor="ctr"/>
          <a:lstStyle/>
          <a:p>
            <a:pPr indent="0" marL="0">
              <a:buNone/>
            </a:pPr>
            <a:r>
              <a:rPr lang="en-US" sz="800" dirty="0">
                <a:solidFill>
                  <a:srgbClr val="93A4BD"/>
                </a:solidFill>
              </a:rPr>
              <a:t>PharmaSafe OCR</a:t>
            </a:r>
            <a:endParaRPr lang="en-US" sz="800" dirty="0"/>
          </a:p>
        </p:txBody>
      </p:sp>
      <p:sp>
        <p:nvSpPr>
          <p:cNvPr id="20" name="Text 17"/>
          <p:cNvSpPr/>
          <p:nvPr/>
        </p:nvSpPr>
        <p:spPr>
          <a:xfrm>
            <a:off x="11247120" y="6483096"/>
            <a:ext cx="457200" cy="201168"/>
          </a:xfrm>
          <a:prstGeom prst="rect">
            <a:avLst/>
          </a:prstGeom>
          <a:noFill/>
          <a:ln/>
        </p:spPr>
        <p:txBody>
          <a:bodyPr wrap="square" lIns="0" tIns="0" rIns="0" bIns="0" rtlCol="0" anchor="ctr"/>
          <a:lstStyle/>
          <a:p>
            <a:pPr algn="r" indent="0" marL="0">
              <a:buNone/>
            </a:pPr>
            <a:r>
              <a:rPr lang="en-US" sz="900" b="1" dirty="0">
                <a:solidFill>
                  <a:srgbClr val="14B8A6"/>
                </a:solidFill>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11F"/>
        </a:solidFill>
      </p:bgPr>
    </p:bg>
    <p:spTree>
      <p:nvGrpSpPr>
        <p:cNvPr id="1" name=""/>
        <p:cNvGrpSpPr/>
        <p:nvPr/>
      </p:nvGrpSpPr>
      <p:grpSpPr>
        <a:xfrm>
          <a:off x="0" y="0"/>
          <a:ext cx="0" cy="0"/>
          <a:chOff x="0" y="0"/>
          <a:chExt cx="0" cy="0"/>
        </a:xfrm>
      </p:grpSpPr>
      <p:sp>
        <p:nvSpPr>
          <p:cNvPr id="2" name="Text 0"/>
          <p:cNvSpPr/>
          <p:nvPr/>
        </p:nvSpPr>
        <p:spPr>
          <a:xfrm>
            <a:off x="502920" y="347472"/>
            <a:ext cx="7132320" cy="411480"/>
          </a:xfrm>
          <a:prstGeom prst="rect">
            <a:avLst/>
          </a:prstGeom>
          <a:noFill/>
          <a:ln/>
        </p:spPr>
        <p:txBody>
          <a:bodyPr wrap="square" lIns="0" tIns="0" rIns="0" bIns="0" rtlCol="0" anchor="ctr">
            <a:normAutofit/>
          </a:bodyPr>
          <a:lstStyle/>
          <a:p>
            <a:pPr indent="0" marL="0">
              <a:buNone/>
            </a:pPr>
            <a:r>
              <a:rPr lang="en-US" sz="2800" b="1" dirty="0">
                <a:solidFill>
                  <a:srgbClr val="EAF2FF"/>
                </a:solidFill>
                <a:latin typeface="Aptos Display" pitchFamily="34" charset="0"/>
                <a:ea typeface="Aptos Display" pitchFamily="34" charset="-122"/>
                <a:cs typeface="Aptos Display" pitchFamily="34" charset="-120"/>
              </a:rPr>
              <a:t>Stage 3 — drug name spell correction</a:t>
            </a:r>
            <a:endParaRPr lang="en-US" sz="2800" dirty="0"/>
          </a:p>
        </p:txBody>
      </p:sp>
      <p:sp>
        <p:nvSpPr>
          <p:cNvPr id="3" name="Text 1"/>
          <p:cNvSpPr/>
          <p:nvPr/>
        </p:nvSpPr>
        <p:spPr>
          <a:xfrm>
            <a:off x="530352" y="804672"/>
            <a:ext cx="6035040" cy="228600"/>
          </a:xfrm>
          <a:prstGeom prst="rect">
            <a:avLst/>
          </a:prstGeom>
          <a:noFill/>
          <a:ln/>
        </p:spPr>
        <p:txBody>
          <a:bodyPr wrap="square" lIns="0" tIns="0" rIns="0" bIns="0" rtlCol="0" anchor="ctr">
            <a:normAutofit/>
          </a:bodyPr>
          <a:lstStyle/>
          <a:p>
            <a:pPr indent="0" marL="0">
              <a:buNone/>
            </a:pPr>
            <a:r>
              <a:rPr lang="en-US" sz="950" dirty="0">
                <a:solidFill>
                  <a:srgbClr val="93A4BD"/>
                </a:solidFill>
              </a:rPr>
              <a:t>Converting raw OCR into standardized pharmaceutical names</a:t>
            </a:r>
            <a:endParaRPr lang="en-US" sz="950" dirty="0"/>
          </a:p>
        </p:txBody>
      </p:sp>
      <p:sp>
        <p:nvSpPr>
          <p:cNvPr id="4" name="Shape 2"/>
          <p:cNvSpPr/>
          <p:nvPr/>
        </p:nvSpPr>
        <p:spPr>
          <a:xfrm>
            <a:off x="502920" y="1069848"/>
            <a:ext cx="1828800" cy="0"/>
          </a:xfrm>
          <a:prstGeom prst="line">
            <a:avLst/>
          </a:prstGeom>
          <a:noFill/>
          <a:ln w="25400">
            <a:solidFill>
              <a:srgbClr val="14B8A6"/>
            </a:solidFill>
            <a:prstDash val="solid"/>
          </a:ln>
        </p:spPr>
      </p:sp>
      <p:sp>
        <p:nvSpPr>
          <p:cNvPr id="5" name="Shape 3"/>
          <p:cNvSpPr/>
          <p:nvPr/>
        </p:nvSpPr>
        <p:spPr>
          <a:xfrm>
            <a:off x="2423160" y="1069848"/>
            <a:ext cx="640080" cy="0"/>
          </a:xfrm>
          <a:prstGeom prst="line">
            <a:avLst/>
          </a:prstGeom>
          <a:noFill/>
          <a:ln w="25400">
            <a:solidFill>
              <a:srgbClr val="F97316"/>
            </a:solidFill>
            <a:prstDash val="solid"/>
          </a:ln>
        </p:spPr>
      </p:sp>
      <p:sp>
        <p:nvSpPr>
          <p:cNvPr id="6" name="Text 4"/>
          <p:cNvSpPr/>
          <p:nvPr/>
        </p:nvSpPr>
        <p:spPr>
          <a:xfrm>
            <a:off x="822960" y="2194560"/>
            <a:ext cx="2011680" cy="621792"/>
          </a:xfrm>
          <a:prstGeom prst="rect">
            <a:avLst/>
          </a:prstGeom>
          <a:solidFill>
            <a:srgbClr val="14243A">
              <a:alpha val="96000"/>
            </a:srgbClr>
          </a:solidFill>
          <a:ln w="15240">
            <a:solidFill>
              <a:srgbClr val="14B8A6">
                <a:alpha val="90000"/>
              </a:srgbClr>
            </a:solidFill>
          </a:ln>
        </p:spPr>
        <p:txBody>
          <a:bodyPr wrap="square" lIns="889" tIns="889" rIns="889" bIns="889" rtlCol="0" anchor="ctr">
            <a:normAutofit/>
          </a:bodyPr>
          <a:lstStyle/>
          <a:p>
            <a:pPr algn="ctr" indent="0" marL="0">
              <a:buNone/>
            </a:pPr>
            <a:r>
              <a:rPr lang="en-US" sz="1500" b="1" dirty="0">
                <a:solidFill>
                  <a:srgbClr val="EAF2FF"/>
                </a:solidFill>
              </a:rPr>
              <a:t>Raw OCR text</a:t>
            </a:r>
            <a:endParaRPr lang="en-US" sz="1500" dirty="0"/>
          </a:p>
        </p:txBody>
      </p:sp>
      <p:sp>
        <p:nvSpPr>
          <p:cNvPr id="7" name="Text 5"/>
          <p:cNvSpPr/>
          <p:nvPr/>
        </p:nvSpPr>
        <p:spPr>
          <a:xfrm>
            <a:off x="3657600" y="2029968"/>
            <a:ext cx="2514600" cy="960120"/>
          </a:xfrm>
          <a:prstGeom prst="rect">
            <a:avLst/>
          </a:prstGeom>
          <a:solidFill>
            <a:srgbClr val="14243A">
              <a:alpha val="96000"/>
            </a:srgbClr>
          </a:solidFill>
          <a:ln w="15240">
            <a:solidFill>
              <a:srgbClr val="2563EB">
                <a:alpha val="90000"/>
              </a:srgbClr>
            </a:solidFill>
          </a:ln>
        </p:spPr>
        <p:txBody>
          <a:bodyPr wrap="square" lIns="889" tIns="889" rIns="889" bIns="889" rtlCol="0" anchor="ctr">
            <a:normAutofit/>
          </a:bodyPr>
          <a:lstStyle/>
          <a:p>
            <a:pPr algn="ctr" indent="0" marL="0">
              <a:buNone/>
            </a:pPr>
            <a:r>
              <a:rPr lang="en-US" sz="1400" b="1" dirty="0">
                <a:solidFill>
                  <a:srgbClr val="EAF2FF"/>
                </a:solidFill>
              </a:rPr>
              <a:t>DrugBank + local BD vocabulary</a:t>
            </a:r>
            <a:endParaRPr lang="en-US" sz="1400" dirty="0"/>
          </a:p>
          <a:p>
            <a:pPr algn="ctr" indent="0" marL="0">
              <a:buNone/>
            </a:pPr>
            <a:r>
              <a:rPr lang="en-US" sz="1400" b="1" dirty="0">
                <a:solidFill>
                  <a:srgbClr val="EAF2FF"/>
                </a:solidFill>
              </a:rPr>
              <a:t>270,000+ entries</a:t>
            </a:r>
            <a:endParaRPr lang="en-US" sz="1400" dirty="0"/>
          </a:p>
        </p:txBody>
      </p:sp>
      <p:sp>
        <p:nvSpPr>
          <p:cNvPr id="8" name="Text 6"/>
          <p:cNvSpPr/>
          <p:nvPr/>
        </p:nvSpPr>
        <p:spPr>
          <a:xfrm>
            <a:off x="6995160" y="2194560"/>
            <a:ext cx="2468880" cy="621792"/>
          </a:xfrm>
          <a:prstGeom prst="rect">
            <a:avLst/>
          </a:prstGeom>
          <a:solidFill>
            <a:srgbClr val="14243A">
              <a:alpha val="96000"/>
            </a:srgbClr>
          </a:solidFill>
          <a:ln w="15240">
            <a:solidFill>
              <a:srgbClr val="F97316">
                <a:alpha val="90000"/>
              </a:srgbClr>
            </a:solidFill>
          </a:ln>
        </p:spPr>
        <p:txBody>
          <a:bodyPr wrap="square" lIns="889" tIns="889" rIns="889" bIns="889" rtlCol="0" anchor="ctr">
            <a:normAutofit/>
          </a:bodyPr>
          <a:lstStyle/>
          <a:p>
            <a:pPr algn="ctr" indent="0" marL="0">
              <a:buNone/>
            </a:pPr>
            <a:r>
              <a:rPr lang="en-US" sz="1500" b="1" dirty="0">
                <a:solidFill>
                  <a:srgbClr val="EAF2FF"/>
                </a:solidFill>
              </a:rPr>
              <a:t>Corrected drug name</a:t>
            </a:r>
            <a:endParaRPr lang="en-US" sz="1500" dirty="0"/>
          </a:p>
          <a:p>
            <a:pPr algn="ctr" indent="0" marL="0">
              <a:buNone/>
            </a:pPr>
            <a:r>
              <a:rPr lang="en-US" sz="1500" b="1" dirty="0">
                <a:solidFill>
                  <a:srgbClr val="EAF2FF"/>
                </a:solidFill>
              </a:rPr>
              <a:t>+ confidence tier</a:t>
            </a:r>
            <a:endParaRPr lang="en-US" sz="1500" dirty="0"/>
          </a:p>
        </p:txBody>
      </p:sp>
      <p:sp>
        <p:nvSpPr>
          <p:cNvPr id="9" name="Shape 7"/>
          <p:cNvSpPr/>
          <p:nvPr/>
        </p:nvSpPr>
        <p:spPr>
          <a:xfrm>
            <a:off x="2880360" y="2514600"/>
            <a:ext cx="731520" cy="0"/>
          </a:xfrm>
          <a:prstGeom prst="line">
            <a:avLst/>
          </a:prstGeom>
          <a:noFill/>
          <a:ln w="27940">
            <a:solidFill>
              <a:srgbClr val="14B8A6"/>
            </a:solidFill>
            <a:prstDash val="solid"/>
            <a:headEnd type="none"/>
            <a:tailEnd type="triangle"/>
          </a:ln>
        </p:spPr>
      </p:sp>
      <p:sp>
        <p:nvSpPr>
          <p:cNvPr id="10" name="Shape 8"/>
          <p:cNvSpPr/>
          <p:nvPr/>
        </p:nvSpPr>
        <p:spPr>
          <a:xfrm>
            <a:off x="6217920" y="2514600"/>
            <a:ext cx="713232" cy="0"/>
          </a:xfrm>
          <a:prstGeom prst="line">
            <a:avLst/>
          </a:prstGeom>
          <a:noFill/>
          <a:ln w="27940">
            <a:solidFill>
              <a:srgbClr val="F97316"/>
            </a:solidFill>
            <a:prstDash val="solid"/>
            <a:headEnd type="none"/>
            <a:tailEnd type="triangle"/>
          </a:ln>
        </p:spPr>
      </p:sp>
      <p:sp>
        <p:nvSpPr>
          <p:cNvPr id="11" name="Text 9"/>
          <p:cNvSpPr/>
          <p:nvPr/>
        </p:nvSpPr>
        <p:spPr>
          <a:xfrm>
            <a:off x="777240" y="3703320"/>
            <a:ext cx="2286000" cy="219456"/>
          </a:xfrm>
          <a:prstGeom prst="rect">
            <a:avLst/>
          </a:prstGeom>
          <a:noFill/>
          <a:ln/>
        </p:spPr>
        <p:txBody>
          <a:bodyPr wrap="square" lIns="0" tIns="0" rIns="0" bIns="0" rtlCol="0" anchor="ctr"/>
          <a:lstStyle/>
          <a:p>
            <a:pPr indent="0" marL="0">
              <a:buNone/>
            </a:pPr>
            <a:r>
              <a:rPr lang="en-US" sz="750" b="1" dirty="0">
                <a:solidFill>
                  <a:srgbClr val="22D3EE"/>
                </a:solidFill>
              </a:rPr>
              <a:t>TWO-PASS ALGORITHM</a:t>
            </a:r>
            <a:endParaRPr lang="en-US" sz="750" dirty="0"/>
          </a:p>
        </p:txBody>
      </p:sp>
      <p:sp>
        <p:nvSpPr>
          <p:cNvPr id="12" name="Text 10"/>
          <p:cNvSpPr/>
          <p:nvPr/>
        </p:nvSpPr>
        <p:spPr>
          <a:xfrm>
            <a:off x="777240" y="4005072"/>
            <a:ext cx="5577840" cy="1097280"/>
          </a:xfrm>
          <a:prstGeom prst="rect">
            <a:avLst/>
          </a:prstGeom>
          <a:noFill/>
          <a:ln/>
        </p:spPr>
        <p:txBody>
          <a:bodyPr wrap="square" lIns="762" tIns="762" rIns="762" bIns="762" rtlCol="0" anchor="ctr">
            <a:normAutofit/>
          </a:bodyPr>
          <a:lstStyle/>
          <a:p>
            <a:pPr indent="0" marL="0">
              <a:buNone/>
            </a:pPr>
            <a:r>
              <a:rPr lang="en-US" sz="1400" b="1" dirty="0">
                <a:solidFill>
                  <a:srgbClr val="14B8A6"/>
                </a:solidFill>
              </a:rPr>
              <a:t>• </a:t>
            </a:r>
            <a:pPr indent="0" marL="0">
              <a:buNone/>
            </a:pPr>
            <a:r>
              <a:rPr lang="en-US" sz="1400" dirty="0">
                <a:solidFill>
                  <a:srgbClr val="D5E7FF"/>
                </a:solidFill>
              </a:rPr>
              <a:t>Pass 1: exact case-insensitive lookup
</a:t>
            </a:r>
            <a:pPr indent="0" marL="0">
              <a:buNone/>
            </a:pPr>
            <a:r>
              <a:rPr lang="en-US" sz="1400" b="1" dirty="0">
                <a:solidFill>
                  <a:srgbClr val="14B8A6"/>
                </a:solidFill>
              </a:rPr>
              <a:t>• </a:t>
            </a:r>
            <a:pPr indent="0" marL="0">
              <a:buNone/>
            </a:pPr>
            <a:r>
              <a:rPr lang="en-US" sz="1400" dirty="0">
                <a:solidFill>
                  <a:srgbClr val="D5E7FF"/>
                </a:solidFill>
              </a:rPr>
              <a:t>Pass 2: fuzzy matching with token_sort_ratio
</a:t>
            </a:r>
            <a:pPr indent="0" marL="0">
              <a:buNone/>
            </a:pPr>
            <a:r>
              <a:rPr lang="en-US" sz="1400" b="1" dirty="0">
                <a:solidFill>
                  <a:srgbClr val="14B8A6"/>
                </a:solidFill>
              </a:rPr>
              <a:t>• </a:t>
            </a:r>
            <a:pPr indent="0" marL="0">
              <a:buNone/>
            </a:pPr>
            <a:r>
              <a:rPr lang="en-US" sz="1400" dirty="0">
                <a:solidFill>
                  <a:srgbClr val="D5E7FF"/>
                </a:solidFill>
              </a:rPr>
              <a:t>High confidence ≥95; low confidence 75–94; below 75 stays unrecognized</a:t>
            </a:r>
            <a:endParaRPr lang="en-US" sz="1400" dirty="0"/>
          </a:p>
        </p:txBody>
      </p:sp>
      <p:sp>
        <p:nvSpPr>
          <p:cNvPr id="13" name="Text 11"/>
          <p:cNvSpPr/>
          <p:nvPr/>
        </p:nvSpPr>
        <p:spPr>
          <a:xfrm>
            <a:off x="7315200" y="3703320"/>
            <a:ext cx="2468880" cy="219456"/>
          </a:xfrm>
          <a:prstGeom prst="rect">
            <a:avLst/>
          </a:prstGeom>
          <a:noFill/>
          <a:ln/>
        </p:spPr>
        <p:txBody>
          <a:bodyPr wrap="square" lIns="0" tIns="0" rIns="0" bIns="0" rtlCol="0" anchor="ctr"/>
          <a:lstStyle/>
          <a:p>
            <a:pPr indent="0" marL="0">
              <a:buNone/>
            </a:pPr>
            <a:r>
              <a:rPr lang="en-US" sz="750" b="1" dirty="0">
                <a:solidFill>
                  <a:srgbClr val="A7F3D0"/>
                </a:solidFill>
              </a:rPr>
              <a:t>VOCABULARY COMPOSITION</a:t>
            </a:r>
            <a:endParaRPr lang="en-US" sz="750" dirty="0"/>
          </a:p>
        </p:txBody>
      </p:sp>
      <p:sp>
        <p:nvSpPr>
          <p:cNvPr id="14" name="Text 12"/>
          <p:cNvSpPr/>
          <p:nvPr/>
        </p:nvSpPr>
        <p:spPr>
          <a:xfrm>
            <a:off x="7315200" y="4023360"/>
            <a:ext cx="3017520" cy="1143000"/>
          </a:xfrm>
          <a:prstGeom prst="rect">
            <a:avLst/>
          </a:prstGeom>
          <a:noFill/>
          <a:ln/>
        </p:spPr>
        <p:txBody>
          <a:bodyPr wrap="square" lIns="1016" tIns="1016" rIns="1016" bIns="1016" rtlCol="0" anchor="ctr">
            <a:normAutofit/>
          </a:bodyPr>
          <a:lstStyle/>
          <a:p>
            <a:pPr indent="0" marL="0">
              <a:buNone/>
            </a:pPr>
            <a:r>
              <a:rPr lang="en-US" sz="1400" dirty="0">
                <a:solidFill>
                  <a:srgbClr val="D5E7FF"/>
                </a:solidFill>
                <a:latin typeface="Aptos" pitchFamily="34" charset="0"/>
                <a:ea typeface="Aptos" pitchFamily="34" charset="-122"/>
                <a:cs typeface="Aptos" pitchFamily="34" charset="-120"/>
              </a:rPr>
              <a:t>Generic names</a:t>
            </a:r>
            <a:endParaRPr lang="en-US" sz="1400" dirty="0"/>
          </a:p>
          <a:p>
            <a:pPr indent="0" marL="0">
              <a:buNone/>
            </a:pPr>
            <a:r>
              <a:rPr lang="en-US" sz="1400" dirty="0">
                <a:solidFill>
                  <a:srgbClr val="D5E7FF"/>
                </a:solidFill>
                <a:latin typeface="Aptos" pitchFamily="34" charset="0"/>
                <a:ea typeface="Aptos" pitchFamily="34" charset="-122"/>
                <a:cs typeface="Aptos" pitchFamily="34" charset="-120"/>
              </a:rPr>
              <a:t>Chemical synonyms</a:t>
            </a:r>
            <a:endParaRPr lang="en-US" sz="1400" dirty="0"/>
          </a:p>
          <a:p>
            <a:pPr indent="0" marL="0">
              <a:buNone/>
            </a:pPr>
            <a:r>
              <a:rPr lang="en-US" sz="1400" dirty="0">
                <a:solidFill>
                  <a:srgbClr val="D5E7FF"/>
                </a:solidFill>
                <a:latin typeface="Aptos" pitchFamily="34" charset="0"/>
                <a:ea typeface="Aptos" pitchFamily="34" charset="-122"/>
                <a:cs typeface="Aptos" pitchFamily="34" charset="-120"/>
              </a:rPr>
              <a:t>Commercial brands</a:t>
            </a:r>
            <a:endParaRPr lang="en-US" sz="1400" dirty="0"/>
          </a:p>
          <a:p>
            <a:pPr indent="0" marL="0">
              <a:buNone/>
            </a:pPr>
            <a:r>
              <a:rPr lang="en-US" sz="1400" dirty="0">
                <a:solidFill>
                  <a:srgbClr val="D5E7FF"/>
                </a:solidFill>
                <a:latin typeface="Aptos" pitchFamily="34" charset="0"/>
                <a:ea typeface="Aptos" pitchFamily="34" charset="-122"/>
                <a:cs typeface="Aptos" pitchFamily="34" charset="-120"/>
              </a:rPr>
              <a:t>Local Bangladeshi drug labels</a:t>
            </a:r>
            <a:endParaRPr lang="en-US" sz="1400" dirty="0"/>
          </a:p>
        </p:txBody>
      </p:sp>
      <p:sp>
        <p:nvSpPr>
          <p:cNvPr id="15" name="Text 13"/>
          <p:cNvSpPr/>
          <p:nvPr/>
        </p:nvSpPr>
        <p:spPr>
          <a:xfrm>
            <a:off x="502920" y="6510528"/>
            <a:ext cx="1828800" cy="164592"/>
          </a:xfrm>
          <a:prstGeom prst="rect">
            <a:avLst/>
          </a:prstGeom>
          <a:noFill/>
          <a:ln/>
        </p:spPr>
        <p:txBody>
          <a:bodyPr wrap="square" lIns="0" tIns="0" rIns="0" bIns="0" rtlCol="0" anchor="ctr"/>
          <a:lstStyle/>
          <a:p>
            <a:pPr indent="0" marL="0">
              <a:buNone/>
            </a:pPr>
            <a:r>
              <a:rPr lang="en-US" sz="800" dirty="0">
                <a:solidFill>
                  <a:srgbClr val="93A4BD"/>
                </a:solidFill>
              </a:rPr>
              <a:t>PharmaSafe OCR</a:t>
            </a:r>
            <a:endParaRPr lang="en-US" sz="800" dirty="0"/>
          </a:p>
        </p:txBody>
      </p:sp>
      <p:sp>
        <p:nvSpPr>
          <p:cNvPr id="16" name="Text 14"/>
          <p:cNvSpPr/>
          <p:nvPr/>
        </p:nvSpPr>
        <p:spPr>
          <a:xfrm>
            <a:off x="11247120" y="6483096"/>
            <a:ext cx="457200" cy="201168"/>
          </a:xfrm>
          <a:prstGeom prst="rect">
            <a:avLst/>
          </a:prstGeom>
          <a:noFill/>
          <a:ln/>
        </p:spPr>
        <p:txBody>
          <a:bodyPr wrap="square" lIns="0" tIns="0" rIns="0" bIns="0" rtlCol="0" anchor="ctr"/>
          <a:lstStyle/>
          <a:p>
            <a:pPr algn="r" indent="0" marL="0">
              <a:buNone/>
            </a:pPr>
            <a:r>
              <a:rPr lang="en-US" sz="900" b="1" dirty="0">
                <a:solidFill>
                  <a:srgbClr val="14B8A6"/>
                </a:solidFill>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111F"/>
        </a:solidFill>
      </p:bgPr>
    </p:bg>
    <p:spTree>
      <p:nvGrpSpPr>
        <p:cNvPr id="1" name=""/>
        <p:cNvGrpSpPr/>
        <p:nvPr/>
      </p:nvGrpSpPr>
      <p:grpSpPr>
        <a:xfrm>
          <a:off x="0" y="0"/>
          <a:ext cx="0" cy="0"/>
          <a:chOff x="0" y="0"/>
          <a:chExt cx="0" cy="0"/>
        </a:xfrm>
      </p:grpSpPr>
      <p:sp>
        <p:nvSpPr>
          <p:cNvPr id="2" name="Text 0"/>
          <p:cNvSpPr/>
          <p:nvPr/>
        </p:nvSpPr>
        <p:spPr>
          <a:xfrm>
            <a:off x="502920" y="347472"/>
            <a:ext cx="7132320" cy="411480"/>
          </a:xfrm>
          <a:prstGeom prst="rect">
            <a:avLst/>
          </a:prstGeom>
          <a:noFill/>
          <a:ln/>
        </p:spPr>
        <p:txBody>
          <a:bodyPr wrap="square" lIns="0" tIns="0" rIns="0" bIns="0" rtlCol="0" anchor="ctr">
            <a:normAutofit/>
          </a:bodyPr>
          <a:lstStyle/>
          <a:p>
            <a:pPr indent="0" marL="0">
              <a:buNone/>
            </a:pPr>
            <a:r>
              <a:rPr lang="en-US" sz="2800" b="1" dirty="0">
                <a:solidFill>
                  <a:srgbClr val="EAF2FF"/>
                </a:solidFill>
                <a:latin typeface="Aptos Display" pitchFamily="34" charset="0"/>
                <a:ea typeface="Aptos Display" pitchFamily="34" charset="-122"/>
                <a:cs typeface="Aptos Display" pitchFamily="34" charset="-120"/>
              </a:rPr>
              <a:t>Stage 3 impact</a:t>
            </a:r>
            <a:endParaRPr lang="en-US" sz="2800" dirty="0"/>
          </a:p>
        </p:txBody>
      </p:sp>
      <p:sp>
        <p:nvSpPr>
          <p:cNvPr id="3" name="Text 1"/>
          <p:cNvSpPr/>
          <p:nvPr/>
        </p:nvSpPr>
        <p:spPr>
          <a:xfrm>
            <a:off x="530352" y="804672"/>
            <a:ext cx="6035040" cy="228600"/>
          </a:xfrm>
          <a:prstGeom prst="rect">
            <a:avLst/>
          </a:prstGeom>
          <a:noFill/>
          <a:ln/>
        </p:spPr>
        <p:txBody>
          <a:bodyPr wrap="square" lIns="0" tIns="0" rIns="0" bIns="0" rtlCol="0" anchor="ctr">
            <a:normAutofit/>
          </a:bodyPr>
          <a:lstStyle/>
          <a:p>
            <a:pPr indent="0" marL="0">
              <a:buNone/>
            </a:pPr>
            <a:r>
              <a:rPr lang="en-US" sz="950" dirty="0">
                <a:solidFill>
                  <a:srgbClr val="93A4BD"/>
                </a:solidFill>
              </a:rPr>
              <a:t>Correction improves standardization while flagging uncertain cases</a:t>
            </a:r>
            <a:endParaRPr lang="en-US" sz="950" dirty="0"/>
          </a:p>
        </p:txBody>
      </p:sp>
      <p:sp>
        <p:nvSpPr>
          <p:cNvPr id="4" name="Shape 2"/>
          <p:cNvSpPr/>
          <p:nvPr/>
        </p:nvSpPr>
        <p:spPr>
          <a:xfrm>
            <a:off x="502920" y="1069848"/>
            <a:ext cx="1828800" cy="0"/>
          </a:xfrm>
          <a:prstGeom prst="line">
            <a:avLst/>
          </a:prstGeom>
          <a:noFill/>
          <a:ln w="25400">
            <a:solidFill>
              <a:srgbClr val="14B8A6"/>
            </a:solidFill>
            <a:prstDash val="solid"/>
          </a:ln>
        </p:spPr>
      </p:sp>
      <p:sp>
        <p:nvSpPr>
          <p:cNvPr id="5" name="Shape 3"/>
          <p:cNvSpPr/>
          <p:nvPr/>
        </p:nvSpPr>
        <p:spPr>
          <a:xfrm>
            <a:off x="2423160" y="1069848"/>
            <a:ext cx="640080" cy="0"/>
          </a:xfrm>
          <a:prstGeom prst="line">
            <a:avLst/>
          </a:prstGeom>
          <a:noFill/>
          <a:ln w="25400">
            <a:solidFill>
              <a:srgbClr val="F97316"/>
            </a:solidFill>
            <a:prstDash val="solid"/>
          </a:ln>
        </p:spPr>
      </p:sp>
      <p:pic>
        <p:nvPicPr>
          <p:cNvPr id="6" name="Image 0" descr="/mnt/data/pharmasafe_docx_media/word/media/image6.jpg">    </p:cNvPr>
          <p:cNvPicPr>
            <a:picLocks noChangeAspect="1"/>
          </p:cNvPicPr>
          <p:nvPr/>
        </p:nvPicPr>
        <p:blipFill>
          <a:blip r:embed="rId1"/>
          <a:stretch>
            <a:fillRect/>
          </a:stretch>
        </p:blipFill>
        <p:spPr>
          <a:xfrm>
            <a:off x="739031" y="1143000"/>
            <a:ext cx="5059898" cy="2788920"/>
          </a:xfrm>
          <a:prstGeom prst="rect">
            <a:avLst/>
          </a:prstGeom>
        </p:spPr>
      </p:pic>
      <p:sp>
        <p:nvSpPr>
          <p:cNvPr id="7" name="Shape 4"/>
          <p:cNvSpPr/>
          <p:nvPr/>
        </p:nvSpPr>
        <p:spPr>
          <a:xfrm>
            <a:off x="640080" y="1143000"/>
            <a:ext cx="5257800" cy="2788920"/>
          </a:xfrm>
          <a:prstGeom prst="rect">
            <a:avLst/>
          </a:prstGeom>
          <a:solidFill>
            <a:srgbClr val="000000">
              <a:alpha val="0"/>
            </a:srgbClr>
          </a:solidFill>
          <a:ln w="15240">
            <a:solidFill>
              <a:srgbClr val="14B8A6">
                <a:alpha val="65000"/>
              </a:srgbClr>
            </a:solidFill>
            <a:prstDash val="solid"/>
          </a:ln>
        </p:spPr>
      </p:sp>
      <p:sp>
        <p:nvSpPr>
          <p:cNvPr id="8" name="Text 5"/>
          <p:cNvSpPr/>
          <p:nvPr/>
        </p:nvSpPr>
        <p:spPr>
          <a:xfrm>
            <a:off x="777240" y="3977640"/>
            <a:ext cx="4983480" cy="192024"/>
          </a:xfrm>
          <a:prstGeom prst="rect">
            <a:avLst/>
          </a:prstGeom>
          <a:noFill/>
          <a:ln/>
        </p:spPr>
        <p:txBody>
          <a:bodyPr wrap="square" lIns="0" tIns="0" rIns="0" bIns="0" rtlCol="0" anchor="ctr">
            <a:normAutofit/>
          </a:bodyPr>
          <a:lstStyle/>
          <a:p>
            <a:pPr indent="0" marL="0">
              <a:buNone/>
            </a:pPr>
            <a:r>
              <a:rPr lang="en-US" sz="800" i="1" dirty="0">
                <a:solidFill>
                  <a:srgbClr val="93A4BD"/>
                </a:solidFill>
              </a:rPr>
              <a:t>Threshold tuning for precision/recall/F1</a:t>
            </a:r>
            <a:endParaRPr lang="en-US" sz="800" dirty="0"/>
          </a:p>
        </p:txBody>
      </p:sp>
      <p:pic>
        <p:nvPicPr>
          <p:cNvPr id="9" name="Image 1" descr="/mnt/data/pharmasafe_docx_media/word/media/image7.jpg">    </p:cNvPr>
          <p:cNvPicPr>
            <a:picLocks noChangeAspect="1"/>
          </p:cNvPicPr>
          <p:nvPr/>
        </p:nvPicPr>
        <p:blipFill>
          <a:blip r:embed="rId2"/>
          <a:stretch>
            <a:fillRect/>
          </a:stretch>
        </p:blipFill>
        <p:spPr>
          <a:xfrm>
            <a:off x="6263640" y="1387736"/>
            <a:ext cx="5212080" cy="2299447"/>
          </a:xfrm>
          <a:prstGeom prst="rect">
            <a:avLst/>
          </a:prstGeom>
        </p:spPr>
      </p:pic>
      <p:sp>
        <p:nvSpPr>
          <p:cNvPr id="10" name="Shape 6"/>
          <p:cNvSpPr/>
          <p:nvPr/>
        </p:nvSpPr>
        <p:spPr>
          <a:xfrm>
            <a:off x="6263640" y="1051560"/>
            <a:ext cx="5212080" cy="2971800"/>
          </a:xfrm>
          <a:prstGeom prst="rect">
            <a:avLst/>
          </a:prstGeom>
          <a:solidFill>
            <a:srgbClr val="000000">
              <a:alpha val="0"/>
            </a:srgbClr>
          </a:solidFill>
          <a:ln w="15240">
            <a:solidFill>
              <a:srgbClr val="14B8A6">
                <a:alpha val="65000"/>
              </a:srgbClr>
            </a:solidFill>
            <a:prstDash val="solid"/>
          </a:ln>
        </p:spPr>
      </p:sp>
      <p:sp>
        <p:nvSpPr>
          <p:cNvPr id="11" name="Text 7"/>
          <p:cNvSpPr/>
          <p:nvPr/>
        </p:nvSpPr>
        <p:spPr>
          <a:xfrm>
            <a:off x="6400800" y="4069080"/>
            <a:ext cx="4937760" cy="192024"/>
          </a:xfrm>
          <a:prstGeom prst="rect">
            <a:avLst/>
          </a:prstGeom>
          <a:noFill/>
          <a:ln/>
        </p:spPr>
        <p:txBody>
          <a:bodyPr wrap="square" lIns="0" tIns="0" rIns="0" bIns="0" rtlCol="0" anchor="ctr">
            <a:normAutofit/>
          </a:bodyPr>
          <a:lstStyle/>
          <a:p>
            <a:pPr indent="0" marL="0">
              <a:buNone/>
            </a:pPr>
            <a:r>
              <a:rPr lang="en-US" sz="800" i="1" dirty="0">
                <a:solidFill>
                  <a:srgbClr val="93A4BD"/>
                </a:solidFill>
              </a:rPr>
              <a:t>Correction status distribution and before/after exact match</a:t>
            </a:r>
            <a:endParaRPr lang="en-US" sz="800" dirty="0"/>
          </a:p>
        </p:txBody>
      </p:sp>
      <p:sp>
        <p:nvSpPr>
          <p:cNvPr id="12" name="Text 8"/>
          <p:cNvSpPr/>
          <p:nvPr/>
        </p:nvSpPr>
        <p:spPr>
          <a:xfrm>
            <a:off x="777240" y="4572000"/>
            <a:ext cx="2194560" cy="475488"/>
          </a:xfrm>
          <a:prstGeom prst="rect">
            <a:avLst/>
          </a:prstGeom>
          <a:noFill/>
          <a:ln/>
        </p:spPr>
        <p:txBody>
          <a:bodyPr wrap="square" lIns="0" tIns="0" rIns="0" bIns="0" rtlCol="0" anchor="ctr">
            <a:normAutofit/>
          </a:bodyPr>
          <a:lstStyle/>
          <a:p>
            <a:pPr indent="0" marL="0">
              <a:buNone/>
            </a:pPr>
            <a:r>
              <a:rPr lang="en-US" sz="2600" b="1" dirty="0">
                <a:solidFill>
                  <a:srgbClr val="14B8A6"/>
                </a:solidFill>
              </a:rPr>
              <a:t>73.2%</a:t>
            </a:r>
            <a:endParaRPr lang="en-US" sz="2600" dirty="0"/>
          </a:p>
        </p:txBody>
      </p:sp>
      <p:sp>
        <p:nvSpPr>
          <p:cNvPr id="13" name="Text 9"/>
          <p:cNvSpPr/>
          <p:nvPr/>
        </p:nvSpPr>
        <p:spPr>
          <a:xfrm>
            <a:off x="777240" y="5056632"/>
            <a:ext cx="219456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DrugBank exact match after correction</a:t>
            </a:r>
            <a:endParaRPr lang="en-US" sz="950" dirty="0"/>
          </a:p>
        </p:txBody>
      </p:sp>
      <p:sp>
        <p:nvSpPr>
          <p:cNvPr id="14" name="Text 10"/>
          <p:cNvSpPr/>
          <p:nvPr/>
        </p:nvSpPr>
        <p:spPr>
          <a:xfrm>
            <a:off x="3246120" y="4572000"/>
            <a:ext cx="2148840" cy="475488"/>
          </a:xfrm>
          <a:prstGeom prst="rect">
            <a:avLst/>
          </a:prstGeom>
          <a:noFill/>
          <a:ln/>
        </p:spPr>
        <p:txBody>
          <a:bodyPr wrap="square" lIns="0" tIns="0" rIns="0" bIns="0" rtlCol="0" anchor="ctr">
            <a:normAutofit/>
          </a:bodyPr>
          <a:lstStyle/>
          <a:p>
            <a:pPr indent="0" marL="0">
              <a:buNone/>
            </a:pPr>
            <a:r>
              <a:rPr lang="en-US" sz="2600" b="1" dirty="0">
                <a:solidFill>
                  <a:srgbClr val="F97316"/>
                </a:solidFill>
              </a:rPr>
              <a:t>669 / 914</a:t>
            </a:r>
            <a:endParaRPr lang="en-US" sz="2600" dirty="0"/>
          </a:p>
        </p:txBody>
      </p:sp>
      <p:sp>
        <p:nvSpPr>
          <p:cNvPr id="15" name="Text 11"/>
          <p:cNvSpPr/>
          <p:nvPr/>
        </p:nvSpPr>
        <p:spPr>
          <a:xfrm>
            <a:off x="3246120" y="5056632"/>
            <a:ext cx="214884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exact corrected predictions</a:t>
            </a:r>
            <a:endParaRPr lang="en-US" sz="950" dirty="0"/>
          </a:p>
        </p:txBody>
      </p:sp>
      <p:sp>
        <p:nvSpPr>
          <p:cNvPr id="16" name="Text 12"/>
          <p:cNvSpPr/>
          <p:nvPr/>
        </p:nvSpPr>
        <p:spPr>
          <a:xfrm>
            <a:off x="6355080" y="4617720"/>
            <a:ext cx="4937760" cy="685800"/>
          </a:xfrm>
          <a:prstGeom prst="rect">
            <a:avLst/>
          </a:prstGeom>
          <a:noFill/>
          <a:ln/>
        </p:spPr>
        <p:txBody>
          <a:bodyPr wrap="square" lIns="1016" tIns="1016" rIns="1016" bIns="1016" rtlCol="0" anchor="ctr">
            <a:normAutofit/>
          </a:bodyPr>
          <a:lstStyle/>
          <a:p>
            <a:pPr indent="0" marL="0">
              <a:buNone/>
            </a:pPr>
            <a:r>
              <a:rPr lang="en-US" sz="1450" dirty="0">
                <a:solidFill>
                  <a:srgbClr val="D5E7FF"/>
                </a:solidFill>
                <a:latin typeface="Aptos" pitchFamily="34" charset="0"/>
                <a:ea typeface="Aptos" pitchFamily="34" charset="-122"/>
                <a:cs typeface="Aptos" pitchFamily="34" charset="-120"/>
              </a:rPr>
              <a:t>Low-confidence corrections are intentionally flagged for review instead of silently accepted, which is safer for medical workflows.</a:t>
            </a:r>
            <a:endParaRPr lang="en-US" sz="1450" dirty="0"/>
          </a:p>
        </p:txBody>
      </p:sp>
      <p:sp>
        <p:nvSpPr>
          <p:cNvPr id="17" name="Text 13"/>
          <p:cNvSpPr/>
          <p:nvPr/>
        </p:nvSpPr>
        <p:spPr>
          <a:xfrm>
            <a:off x="502920" y="6510528"/>
            <a:ext cx="1828800" cy="164592"/>
          </a:xfrm>
          <a:prstGeom prst="rect">
            <a:avLst/>
          </a:prstGeom>
          <a:noFill/>
          <a:ln/>
        </p:spPr>
        <p:txBody>
          <a:bodyPr wrap="square" lIns="0" tIns="0" rIns="0" bIns="0" rtlCol="0" anchor="ctr"/>
          <a:lstStyle/>
          <a:p>
            <a:pPr indent="0" marL="0">
              <a:buNone/>
            </a:pPr>
            <a:r>
              <a:rPr lang="en-US" sz="800" dirty="0">
                <a:solidFill>
                  <a:srgbClr val="93A4BD"/>
                </a:solidFill>
              </a:rPr>
              <a:t>PharmaSafe OCR</a:t>
            </a:r>
            <a:endParaRPr lang="en-US" sz="800" dirty="0"/>
          </a:p>
        </p:txBody>
      </p:sp>
      <p:sp>
        <p:nvSpPr>
          <p:cNvPr id="18" name="Text 14"/>
          <p:cNvSpPr/>
          <p:nvPr/>
        </p:nvSpPr>
        <p:spPr>
          <a:xfrm>
            <a:off x="11247120" y="6483096"/>
            <a:ext cx="457200" cy="201168"/>
          </a:xfrm>
          <a:prstGeom prst="rect">
            <a:avLst/>
          </a:prstGeom>
          <a:noFill/>
          <a:ln/>
        </p:spPr>
        <p:txBody>
          <a:bodyPr wrap="square" lIns="0" tIns="0" rIns="0" bIns="0" rtlCol="0" anchor="ctr"/>
          <a:lstStyle/>
          <a:p>
            <a:pPr algn="r" indent="0" marL="0">
              <a:buNone/>
            </a:pPr>
            <a:r>
              <a:rPr lang="en-US" sz="900" b="1" dirty="0">
                <a:solidFill>
                  <a:srgbClr val="14B8A6"/>
                </a:solidFill>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111F"/>
        </a:solidFill>
      </p:bgPr>
    </p:bg>
    <p:spTree>
      <p:nvGrpSpPr>
        <p:cNvPr id="1" name=""/>
        <p:cNvGrpSpPr/>
        <p:nvPr/>
      </p:nvGrpSpPr>
      <p:grpSpPr>
        <a:xfrm>
          <a:off x="0" y="0"/>
          <a:ext cx="0" cy="0"/>
          <a:chOff x="0" y="0"/>
          <a:chExt cx="0" cy="0"/>
        </a:xfrm>
      </p:grpSpPr>
      <p:sp>
        <p:nvSpPr>
          <p:cNvPr id="2" name="Text 0"/>
          <p:cNvSpPr/>
          <p:nvPr/>
        </p:nvSpPr>
        <p:spPr>
          <a:xfrm>
            <a:off x="502920" y="347472"/>
            <a:ext cx="7132320" cy="411480"/>
          </a:xfrm>
          <a:prstGeom prst="rect">
            <a:avLst/>
          </a:prstGeom>
          <a:noFill/>
          <a:ln/>
        </p:spPr>
        <p:txBody>
          <a:bodyPr wrap="square" lIns="0" tIns="0" rIns="0" bIns="0" rtlCol="0" anchor="ctr">
            <a:normAutofit/>
          </a:bodyPr>
          <a:lstStyle/>
          <a:p>
            <a:pPr indent="0" marL="0">
              <a:buNone/>
            </a:pPr>
            <a:r>
              <a:rPr lang="en-US" sz="2800" b="1" dirty="0">
                <a:solidFill>
                  <a:srgbClr val="EAF2FF"/>
                </a:solidFill>
                <a:latin typeface="Aptos Display" pitchFamily="34" charset="0"/>
                <a:ea typeface="Aptos Display" pitchFamily="34" charset="-122"/>
                <a:cs typeface="Aptos Display" pitchFamily="34" charset="-120"/>
              </a:rPr>
              <a:t>Full pipeline integration</a:t>
            </a:r>
            <a:endParaRPr lang="en-US" sz="2800" dirty="0"/>
          </a:p>
        </p:txBody>
      </p:sp>
      <p:sp>
        <p:nvSpPr>
          <p:cNvPr id="3" name="Text 1"/>
          <p:cNvSpPr/>
          <p:nvPr/>
        </p:nvSpPr>
        <p:spPr>
          <a:xfrm>
            <a:off x="530352" y="804672"/>
            <a:ext cx="6035040" cy="228600"/>
          </a:xfrm>
          <a:prstGeom prst="rect">
            <a:avLst/>
          </a:prstGeom>
          <a:noFill/>
          <a:ln/>
        </p:spPr>
        <p:txBody>
          <a:bodyPr wrap="square" lIns="0" tIns="0" rIns="0" bIns="0" rtlCol="0" anchor="ctr">
            <a:normAutofit/>
          </a:bodyPr>
          <a:lstStyle/>
          <a:p>
            <a:pPr indent="0" marL="0">
              <a:buNone/>
            </a:pPr>
            <a:r>
              <a:rPr lang="en-US" sz="950" dirty="0">
                <a:solidFill>
                  <a:srgbClr val="93A4BD"/>
                </a:solidFill>
              </a:rPr>
              <a:t>How one prescription image moves through the system</a:t>
            </a:r>
            <a:endParaRPr lang="en-US" sz="950" dirty="0"/>
          </a:p>
        </p:txBody>
      </p:sp>
      <p:sp>
        <p:nvSpPr>
          <p:cNvPr id="4" name="Shape 2"/>
          <p:cNvSpPr/>
          <p:nvPr/>
        </p:nvSpPr>
        <p:spPr>
          <a:xfrm>
            <a:off x="502920" y="1069848"/>
            <a:ext cx="1828800" cy="0"/>
          </a:xfrm>
          <a:prstGeom prst="line">
            <a:avLst/>
          </a:prstGeom>
          <a:noFill/>
          <a:ln w="25400">
            <a:solidFill>
              <a:srgbClr val="14B8A6"/>
            </a:solidFill>
            <a:prstDash val="solid"/>
          </a:ln>
        </p:spPr>
      </p:sp>
      <p:sp>
        <p:nvSpPr>
          <p:cNvPr id="5" name="Shape 3"/>
          <p:cNvSpPr/>
          <p:nvPr/>
        </p:nvSpPr>
        <p:spPr>
          <a:xfrm>
            <a:off x="2423160" y="1069848"/>
            <a:ext cx="640080" cy="0"/>
          </a:xfrm>
          <a:prstGeom prst="line">
            <a:avLst/>
          </a:prstGeom>
          <a:noFill/>
          <a:ln w="25400">
            <a:solidFill>
              <a:srgbClr val="F97316"/>
            </a:solidFill>
            <a:prstDash val="solid"/>
          </a:ln>
        </p:spPr>
      </p:sp>
      <p:sp>
        <p:nvSpPr>
          <p:cNvPr id="6" name="Text 4"/>
          <p:cNvSpPr/>
          <p:nvPr/>
        </p:nvSpPr>
        <p:spPr>
          <a:xfrm>
            <a:off x="594360" y="1828800"/>
            <a:ext cx="1965960" cy="640080"/>
          </a:xfrm>
          <a:prstGeom prst="rect">
            <a:avLst/>
          </a:prstGeom>
          <a:solidFill>
            <a:srgbClr val="14243A">
              <a:alpha val="96000"/>
            </a:srgbClr>
          </a:solidFill>
          <a:ln w="15240">
            <a:solidFill>
              <a:srgbClr val="14B8A6">
                <a:alpha val="90000"/>
              </a:srgbClr>
            </a:solidFill>
          </a:ln>
        </p:spPr>
        <p:txBody>
          <a:bodyPr wrap="square" lIns="889" tIns="889" rIns="889" bIns="889" rtlCol="0" anchor="ctr">
            <a:normAutofit/>
          </a:bodyPr>
          <a:lstStyle/>
          <a:p>
            <a:pPr algn="ctr" indent="0" marL="0">
              <a:buNone/>
            </a:pPr>
            <a:r>
              <a:rPr lang="en-US" sz="1350" b="1" dirty="0">
                <a:solidFill>
                  <a:srgbClr val="EAF2FF"/>
                </a:solidFill>
              </a:rPr>
              <a:t>Full prescription image</a:t>
            </a:r>
            <a:endParaRPr lang="en-US" sz="1350" dirty="0"/>
          </a:p>
        </p:txBody>
      </p:sp>
      <p:sp>
        <p:nvSpPr>
          <p:cNvPr id="7" name="Text 5"/>
          <p:cNvSpPr/>
          <p:nvPr/>
        </p:nvSpPr>
        <p:spPr>
          <a:xfrm>
            <a:off x="2971800" y="1664208"/>
            <a:ext cx="1783080" cy="960120"/>
          </a:xfrm>
          <a:prstGeom prst="rect">
            <a:avLst/>
          </a:prstGeom>
          <a:solidFill>
            <a:srgbClr val="14243A">
              <a:alpha val="96000"/>
            </a:srgbClr>
          </a:solidFill>
          <a:ln w="15240">
            <a:solidFill>
              <a:srgbClr val="2563EB">
                <a:alpha val="90000"/>
              </a:srgbClr>
            </a:solidFill>
          </a:ln>
        </p:spPr>
        <p:txBody>
          <a:bodyPr wrap="square" lIns="889" tIns="889" rIns="889" bIns="889" rtlCol="0" anchor="ctr">
            <a:normAutofit/>
          </a:bodyPr>
          <a:lstStyle/>
          <a:p>
            <a:pPr algn="ctr" indent="0" marL="0">
              <a:buNone/>
            </a:pPr>
            <a:r>
              <a:rPr lang="en-US" sz="1350" b="1" dirty="0">
                <a:solidFill>
                  <a:srgbClr val="EAF2FF"/>
                </a:solidFill>
              </a:rPr>
              <a:t>YOLO boxes</a:t>
            </a:r>
            <a:endParaRPr lang="en-US" sz="1350" dirty="0"/>
          </a:p>
          <a:p>
            <a:pPr algn="ctr" indent="0" marL="0">
              <a:buNone/>
            </a:pPr>
            <a:r>
              <a:rPr lang="en-US" sz="1350" b="1" dirty="0">
                <a:solidFill>
                  <a:srgbClr val="EAF2FF"/>
                </a:solidFill>
              </a:rPr>
              <a:t>conf ≥ 0.25</a:t>
            </a:r>
            <a:endParaRPr lang="en-US" sz="1350" dirty="0"/>
          </a:p>
        </p:txBody>
      </p:sp>
      <p:sp>
        <p:nvSpPr>
          <p:cNvPr id="8" name="Text 6"/>
          <p:cNvSpPr/>
          <p:nvPr/>
        </p:nvSpPr>
        <p:spPr>
          <a:xfrm>
            <a:off x="5212080" y="1664208"/>
            <a:ext cx="1874520" cy="960120"/>
          </a:xfrm>
          <a:prstGeom prst="rect">
            <a:avLst/>
          </a:prstGeom>
          <a:solidFill>
            <a:srgbClr val="14243A">
              <a:alpha val="96000"/>
            </a:srgbClr>
          </a:solidFill>
          <a:ln w="15240">
            <a:solidFill>
              <a:srgbClr val="22D3EE">
                <a:alpha val="90000"/>
              </a:srgbClr>
            </a:solidFill>
          </a:ln>
        </p:spPr>
        <p:txBody>
          <a:bodyPr wrap="square" lIns="889" tIns="889" rIns="889" bIns="889" rtlCol="0" anchor="ctr">
            <a:normAutofit/>
          </a:bodyPr>
          <a:lstStyle/>
          <a:p>
            <a:pPr algn="ctr" indent="0" marL="0">
              <a:buNone/>
            </a:pPr>
            <a:r>
              <a:rPr lang="en-US" sz="1350" b="1" dirty="0">
                <a:solidFill>
                  <a:srgbClr val="EAF2FF"/>
                </a:solidFill>
              </a:rPr>
              <a:t>Crop + 4px padding</a:t>
            </a:r>
            <a:endParaRPr lang="en-US" sz="1350" dirty="0"/>
          </a:p>
          <a:p>
            <a:pPr algn="ctr" indent="0" marL="0">
              <a:buNone/>
            </a:pPr>
            <a:r>
              <a:rPr lang="en-US" sz="1350" b="1" dirty="0">
                <a:solidFill>
                  <a:srgbClr val="EAF2FF"/>
                </a:solidFill>
              </a:rPr>
              <a:t>resize 384×384</a:t>
            </a:r>
            <a:endParaRPr lang="en-US" sz="1350" dirty="0"/>
          </a:p>
        </p:txBody>
      </p:sp>
      <p:sp>
        <p:nvSpPr>
          <p:cNvPr id="9" name="Text 7"/>
          <p:cNvSpPr/>
          <p:nvPr/>
        </p:nvSpPr>
        <p:spPr>
          <a:xfrm>
            <a:off x="7543800" y="1664208"/>
            <a:ext cx="1783080" cy="960120"/>
          </a:xfrm>
          <a:prstGeom prst="rect">
            <a:avLst/>
          </a:prstGeom>
          <a:solidFill>
            <a:srgbClr val="14243A">
              <a:alpha val="96000"/>
            </a:srgbClr>
          </a:solidFill>
          <a:ln w="15240">
            <a:solidFill>
              <a:srgbClr val="8B5CF6">
                <a:alpha val="90000"/>
              </a:srgbClr>
            </a:solidFill>
          </a:ln>
        </p:spPr>
        <p:txBody>
          <a:bodyPr wrap="square" lIns="889" tIns="889" rIns="889" bIns="889" rtlCol="0" anchor="ctr">
            <a:normAutofit/>
          </a:bodyPr>
          <a:lstStyle/>
          <a:p>
            <a:pPr algn="ctr" indent="0" marL="0">
              <a:buNone/>
            </a:pPr>
            <a:r>
              <a:rPr lang="en-US" sz="1350" b="1" dirty="0">
                <a:solidFill>
                  <a:srgbClr val="EAF2FF"/>
                </a:solidFill>
              </a:rPr>
              <a:t>TrOCR beam search</a:t>
            </a:r>
            <a:endParaRPr lang="en-US" sz="1350" dirty="0"/>
          </a:p>
          <a:p>
            <a:pPr algn="ctr" indent="0" marL="0">
              <a:buNone/>
            </a:pPr>
            <a:r>
              <a:rPr lang="en-US" sz="1350" b="1" dirty="0">
                <a:solidFill>
                  <a:srgbClr val="EAF2FF"/>
                </a:solidFill>
              </a:rPr>
              <a:t>4 beams</a:t>
            </a:r>
            <a:endParaRPr lang="en-US" sz="1350" dirty="0"/>
          </a:p>
        </p:txBody>
      </p:sp>
      <p:sp>
        <p:nvSpPr>
          <p:cNvPr id="10" name="Text 8"/>
          <p:cNvSpPr/>
          <p:nvPr/>
        </p:nvSpPr>
        <p:spPr>
          <a:xfrm>
            <a:off x="9829800" y="1664208"/>
            <a:ext cx="1783080" cy="960120"/>
          </a:xfrm>
          <a:prstGeom prst="rect">
            <a:avLst/>
          </a:prstGeom>
          <a:solidFill>
            <a:srgbClr val="14243A">
              <a:alpha val="96000"/>
            </a:srgbClr>
          </a:solidFill>
          <a:ln w="15240">
            <a:solidFill>
              <a:srgbClr val="F97316">
                <a:alpha val="90000"/>
              </a:srgbClr>
            </a:solidFill>
          </a:ln>
        </p:spPr>
        <p:txBody>
          <a:bodyPr wrap="square" lIns="889" tIns="889" rIns="889" bIns="889" rtlCol="0" anchor="ctr">
            <a:normAutofit/>
          </a:bodyPr>
          <a:lstStyle/>
          <a:p>
            <a:pPr algn="ctr" indent="0" marL="0">
              <a:buNone/>
            </a:pPr>
            <a:r>
              <a:rPr lang="en-US" sz="1350" b="1" dirty="0">
                <a:solidFill>
                  <a:srgbClr val="EAF2FF"/>
                </a:solidFill>
              </a:rPr>
              <a:t>Drug correction</a:t>
            </a:r>
            <a:endParaRPr lang="en-US" sz="1350" dirty="0"/>
          </a:p>
          <a:p>
            <a:pPr algn="ctr" indent="0" marL="0">
              <a:buNone/>
            </a:pPr>
            <a:r>
              <a:rPr lang="en-US" sz="1350" b="1" dirty="0">
                <a:solidFill>
                  <a:srgbClr val="EAF2FF"/>
                </a:solidFill>
              </a:rPr>
              <a:t>name fields only</a:t>
            </a:r>
            <a:endParaRPr lang="en-US" sz="1350" dirty="0"/>
          </a:p>
        </p:txBody>
      </p:sp>
      <p:sp>
        <p:nvSpPr>
          <p:cNvPr id="11" name="Shape 9"/>
          <p:cNvSpPr/>
          <p:nvPr/>
        </p:nvSpPr>
        <p:spPr>
          <a:xfrm>
            <a:off x="2606040" y="2148840"/>
            <a:ext cx="320040" cy="0"/>
          </a:xfrm>
          <a:prstGeom prst="line">
            <a:avLst/>
          </a:prstGeom>
          <a:noFill/>
          <a:ln w="27940">
            <a:solidFill>
              <a:srgbClr val="14B8A6"/>
            </a:solidFill>
            <a:prstDash val="solid"/>
            <a:headEnd type="none"/>
            <a:tailEnd type="triangle"/>
          </a:ln>
        </p:spPr>
      </p:sp>
      <p:sp>
        <p:nvSpPr>
          <p:cNvPr id="12" name="Shape 10"/>
          <p:cNvSpPr/>
          <p:nvPr/>
        </p:nvSpPr>
        <p:spPr>
          <a:xfrm>
            <a:off x="4800600" y="2148840"/>
            <a:ext cx="365760" cy="0"/>
          </a:xfrm>
          <a:prstGeom prst="line">
            <a:avLst/>
          </a:prstGeom>
          <a:noFill/>
          <a:ln w="27940">
            <a:solidFill>
              <a:srgbClr val="22D3EE"/>
            </a:solidFill>
            <a:prstDash val="solid"/>
            <a:headEnd type="none"/>
            <a:tailEnd type="triangle"/>
          </a:ln>
        </p:spPr>
      </p:sp>
      <p:sp>
        <p:nvSpPr>
          <p:cNvPr id="13" name="Shape 11"/>
          <p:cNvSpPr/>
          <p:nvPr/>
        </p:nvSpPr>
        <p:spPr>
          <a:xfrm>
            <a:off x="7132320" y="2148840"/>
            <a:ext cx="365760" cy="0"/>
          </a:xfrm>
          <a:prstGeom prst="line">
            <a:avLst/>
          </a:prstGeom>
          <a:noFill/>
          <a:ln w="27940">
            <a:solidFill>
              <a:srgbClr val="8B5CF6"/>
            </a:solidFill>
            <a:prstDash val="solid"/>
            <a:headEnd type="none"/>
            <a:tailEnd type="triangle"/>
          </a:ln>
        </p:spPr>
      </p:sp>
      <p:sp>
        <p:nvSpPr>
          <p:cNvPr id="14" name="Shape 12"/>
          <p:cNvSpPr/>
          <p:nvPr/>
        </p:nvSpPr>
        <p:spPr>
          <a:xfrm>
            <a:off x="9372600" y="2148840"/>
            <a:ext cx="411480" cy="0"/>
          </a:xfrm>
          <a:prstGeom prst="line">
            <a:avLst/>
          </a:prstGeom>
          <a:noFill/>
          <a:ln w="27940">
            <a:solidFill>
              <a:srgbClr val="F97316"/>
            </a:solidFill>
            <a:prstDash val="solid"/>
            <a:headEnd type="none"/>
            <a:tailEnd type="triangle"/>
          </a:ln>
        </p:spPr>
      </p:sp>
      <p:pic>
        <p:nvPicPr>
          <p:cNvPr id="15" name="Image 0" descr="/mnt/data/pharmasafe_docx_media/word/media/image10.jpg">    </p:cNvPr>
          <p:cNvPicPr>
            <a:picLocks noChangeAspect="1"/>
          </p:cNvPicPr>
          <p:nvPr/>
        </p:nvPicPr>
        <p:blipFill>
          <a:blip r:embed="rId1"/>
          <a:stretch>
            <a:fillRect/>
          </a:stretch>
        </p:blipFill>
        <p:spPr>
          <a:xfrm>
            <a:off x="1803038" y="3218688"/>
            <a:ext cx="1880325" cy="2240280"/>
          </a:xfrm>
          <a:prstGeom prst="rect">
            <a:avLst/>
          </a:prstGeom>
        </p:spPr>
      </p:pic>
      <p:sp>
        <p:nvSpPr>
          <p:cNvPr id="16" name="Shape 13"/>
          <p:cNvSpPr/>
          <p:nvPr/>
        </p:nvSpPr>
        <p:spPr>
          <a:xfrm>
            <a:off x="685800" y="3218688"/>
            <a:ext cx="4114800" cy="2240280"/>
          </a:xfrm>
          <a:prstGeom prst="rect">
            <a:avLst/>
          </a:prstGeom>
          <a:solidFill>
            <a:srgbClr val="000000">
              <a:alpha val="0"/>
            </a:srgbClr>
          </a:solidFill>
          <a:ln w="15240">
            <a:solidFill>
              <a:srgbClr val="14B8A6">
                <a:alpha val="65000"/>
              </a:srgbClr>
            </a:solidFill>
            <a:prstDash val="solid"/>
          </a:ln>
        </p:spPr>
      </p:sp>
      <p:sp>
        <p:nvSpPr>
          <p:cNvPr id="17" name="Text 14"/>
          <p:cNvSpPr/>
          <p:nvPr/>
        </p:nvSpPr>
        <p:spPr>
          <a:xfrm>
            <a:off x="822960" y="5504688"/>
            <a:ext cx="3840480" cy="192024"/>
          </a:xfrm>
          <a:prstGeom prst="rect">
            <a:avLst/>
          </a:prstGeom>
          <a:noFill/>
          <a:ln/>
        </p:spPr>
        <p:txBody>
          <a:bodyPr wrap="square" lIns="0" tIns="0" rIns="0" bIns="0" rtlCol="0" anchor="ctr">
            <a:normAutofit/>
          </a:bodyPr>
          <a:lstStyle/>
          <a:p>
            <a:pPr indent="0" marL="0">
              <a:buNone/>
            </a:pPr>
            <a:r>
              <a:rPr lang="en-US" sz="800" i="1" dirty="0">
                <a:solidFill>
                  <a:srgbClr val="93A4BD"/>
                </a:solidFill>
              </a:rPr>
              <a:t>Example full-pipeline prediction on one prescription</a:t>
            </a:r>
            <a:endParaRPr lang="en-US" sz="800" dirty="0"/>
          </a:p>
        </p:txBody>
      </p:sp>
      <p:sp>
        <p:nvSpPr>
          <p:cNvPr id="18" name="Text 15"/>
          <p:cNvSpPr/>
          <p:nvPr/>
        </p:nvSpPr>
        <p:spPr>
          <a:xfrm>
            <a:off x="5486400" y="3246120"/>
            <a:ext cx="2286000" cy="219456"/>
          </a:xfrm>
          <a:prstGeom prst="rect">
            <a:avLst/>
          </a:prstGeom>
          <a:noFill/>
          <a:ln/>
        </p:spPr>
        <p:txBody>
          <a:bodyPr wrap="square" lIns="0" tIns="0" rIns="0" bIns="0" rtlCol="0" anchor="ctr"/>
          <a:lstStyle/>
          <a:p>
            <a:pPr indent="0" marL="0">
              <a:buNone/>
            </a:pPr>
            <a:r>
              <a:rPr lang="en-US" sz="750" b="1" dirty="0">
                <a:solidFill>
                  <a:srgbClr val="A7F3D0"/>
                </a:solidFill>
              </a:rPr>
              <a:t>FINAL CSV METADATA</a:t>
            </a:r>
            <a:endParaRPr lang="en-US" sz="750" dirty="0"/>
          </a:p>
        </p:txBody>
      </p:sp>
      <p:sp>
        <p:nvSpPr>
          <p:cNvPr id="19" name="Text 16"/>
          <p:cNvSpPr/>
          <p:nvPr/>
        </p:nvSpPr>
        <p:spPr>
          <a:xfrm>
            <a:off x="5486400" y="3566160"/>
            <a:ext cx="5440680" cy="960120"/>
          </a:xfrm>
          <a:prstGeom prst="rect">
            <a:avLst/>
          </a:prstGeom>
          <a:noFill/>
          <a:ln/>
        </p:spPr>
        <p:txBody>
          <a:bodyPr wrap="square" lIns="1016" tIns="1016" rIns="1016" bIns="1016" rtlCol="0" anchor="ctr">
            <a:normAutofit/>
          </a:bodyPr>
          <a:lstStyle/>
          <a:p>
            <a:pPr indent="0" marL="0">
              <a:buNone/>
            </a:pPr>
            <a:r>
              <a:rPr lang="en-US" sz="1500" dirty="0">
                <a:solidFill>
                  <a:srgbClr val="D5E7FF"/>
                </a:solidFill>
                <a:latin typeface="Aptos" pitchFamily="34" charset="0"/>
                <a:ea typeface="Aptos" pitchFamily="34" charset="-122"/>
                <a:cs typeface="Aptos" pitchFamily="34" charset="-120"/>
              </a:rPr>
              <a:t>dataset, image path, predicted class, bounding box, YOLO confidence, raw OCR output, corrected name, correction score, status flag</a:t>
            </a:r>
            <a:endParaRPr lang="en-US" sz="1500" dirty="0"/>
          </a:p>
        </p:txBody>
      </p:sp>
      <p:sp>
        <p:nvSpPr>
          <p:cNvPr id="20" name="Text 17"/>
          <p:cNvSpPr/>
          <p:nvPr/>
        </p:nvSpPr>
        <p:spPr>
          <a:xfrm>
            <a:off x="5486400" y="5074920"/>
            <a:ext cx="5440680" cy="502920"/>
          </a:xfrm>
          <a:prstGeom prst="rect">
            <a:avLst/>
          </a:prstGeom>
          <a:solidFill>
            <a:srgbClr val="0F1F35">
              <a:alpha val="96000"/>
            </a:srgbClr>
          </a:solidFill>
          <a:ln w="15240">
            <a:solidFill>
              <a:srgbClr val="14B8A6">
                <a:alpha val="90000"/>
              </a:srgbClr>
            </a:solidFill>
          </a:ln>
        </p:spPr>
        <p:txBody>
          <a:bodyPr wrap="square" lIns="889" tIns="889" rIns="889" bIns="889" rtlCol="0" anchor="ctr">
            <a:normAutofit/>
          </a:bodyPr>
          <a:lstStyle/>
          <a:p>
            <a:pPr algn="ctr" indent="0" marL="0">
              <a:buNone/>
            </a:pPr>
            <a:r>
              <a:rPr lang="en-US" sz="1350" b="1" dirty="0">
                <a:solidFill>
                  <a:srgbClr val="D5E7FF"/>
                </a:solidFill>
              </a:rPr>
              <a:t>Header filter excludes top 35% of the image to avoid clinic letterhead false positives.</a:t>
            </a:r>
            <a:endParaRPr lang="en-US" sz="1350" dirty="0"/>
          </a:p>
        </p:txBody>
      </p:sp>
      <p:sp>
        <p:nvSpPr>
          <p:cNvPr id="21" name="Text 18"/>
          <p:cNvSpPr/>
          <p:nvPr/>
        </p:nvSpPr>
        <p:spPr>
          <a:xfrm>
            <a:off x="502920" y="6510528"/>
            <a:ext cx="1828800" cy="164592"/>
          </a:xfrm>
          <a:prstGeom prst="rect">
            <a:avLst/>
          </a:prstGeom>
          <a:noFill/>
          <a:ln/>
        </p:spPr>
        <p:txBody>
          <a:bodyPr wrap="square" lIns="0" tIns="0" rIns="0" bIns="0" rtlCol="0" anchor="ctr"/>
          <a:lstStyle/>
          <a:p>
            <a:pPr indent="0" marL="0">
              <a:buNone/>
            </a:pPr>
            <a:r>
              <a:rPr lang="en-US" sz="800" dirty="0">
                <a:solidFill>
                  <a:srgbClr val="93A4BD"/>
                </a:solidFill>
              </a:rPr>
              <a:t>PharmaSafe OCR</a:t>
            </a:r>
            <a:endParaRPr lang="en-US" sz="800" dirty="0"/>
          </a:p>
        </p:txBody>
      </p:sp>
      <p:sp>
        <p:nvSpPr>
          <p:cNvPr id="22" name="Text 19"/>
          <p:cNvSpPr/>
          <p:nvPr/>
        </p:nvSpPr>
        <p:spPr>
          <a:xfrm>
            <a:off x="11247120" y="6483096"/>
            <a:ext cx="457200" cy="201168"/>
          </a:xfrm>
          <a:prstGeom prst="rect">
            <a:avLst/>
          </a:prstGeom>
          <a:noFill/>
          <a:ln/>
        </p:spPr>
        <p:txBody>
          <a:bodyPr wrap="square" lIns="0" tIns="0" rIns="0" bIns="0" rtlCol="0" anchor="ctr"/>
          <a:lstStyle/>
          <a:p>
            <a:pPr algn="r" indent="0" marL="0">
              <a:buNone/>
            </a:pPr>
            <a:r>
              <a:rPr lang="en-US" sz="900" b="1" dirty="0">
                <a:solidFill>
                  <a:srgbClr val="14B8A6"/>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111F"/>
        </a:solidFill>
      </p:bgPr>
    </p:bg>
    <p:spTree>
      <p:nvGrpSpPr>
        <p:cNvPr id="1" name=""/>
        <p:cNvGrpSpPr/>
        <p:nvPr/>
      </p:nvGrpSpPr>
      <p:grpSpPr>
        <a:xfrm>
          <a:off x="0" y="0"/>
          <a:ext cx="0" cy="0"/>
          <a:chOff x="0" y="0"/>
          <a:chExt cx="0" cy="0"/>
        </a:xfrm>
      </p:grpSpPr>
      <p:sp>
        <p:nvSpPr>
          <p:cNvPr id="2" name="Text 0"/>
          <p:cNvSpPr/>
          <p:nvPr/>
        </p:nvSpPr>
        <p:spPr>
          <a:xfrm>
            <a:off x="502920" y="347472"/>
            <a:ext cx="7132320" cy="411480"/>
          </a:xfrm>
          <a:prstGeom prst="rect">
            <a:avLst/>
          </a:prstGeom>
          <a:noFill/>
          <a:ln/>
        </p:spPr>
        <p:txBody>
          <a:bodyPr wrap="square" lIns="0" tIns="0" rIns="0" bIns="0" rtlCol="0" anchor="ctr">
            <a:normAutofit/>
          </a:bodyPr>
          <a:lstStyle/>
          <a:p>
            <a:pPr indent="0" marL="0">
              <a:buNone/>
            </a:pPr>
            <a:r>
              <a:rPr lang="en-US" sz="2800" b="1" dirty="0">
                <a:solidFill>
                  <a:srgbClr val="EAF2FF"/>
                </a:solidFill>
                <a:latin typeface="Aptos Display" pitchFamily="34" charset="0"/>
                <a:ea typeface="Aptos Display" pitchFamily="34" charset="-122"/>
                <a:cs typeface="Aptos Display" pitchFamily="34" charset="-120"/>
              </a:rPr>
              <a:t>Pipeline test-set results</a:t>
            </a:r>
            <a:endParaRPr lang="en-US" sz="2800" dirty="0"/>
          </a:p>
        </p:txBody>
      </p:sp>
      <p:sp>
        <p:nvSpPr>
          <p:cNvPr id="3" name="Text 1"/>
          <p:cNvSpPr/>
          <p:nvPr/>
        </p:nvSpPr>
        <p:spPr>
          <a:xfrm>
            <a:off x="530352" y="804672"/>
            <a:ext cx="6035040" cy="228600"/>
          </a:xfrm>
          <a:prstGeom prst="rect">
            <a:avLst/>
          </a:prstGeom>
          <a:noFill/>
          <a:ln/>
        </p:spPr>
        <p:txBody>
          <a:bodyPr wrap="square" lIns="0" tIns="0" rIns="0" bIns="0" rtlCol="0" anchor="ctr">
            <a:normAutofit/>
          </a:bodyPr>
          <a:lstStyle/>
          <a:p>
            <a:pPr indent="0" marL="0">
              <a:buNone/>
            </a:pPr>
            <a:r>
              <a:rPr lang="en-US" sz="950" dirty="0">
                <a:solidFill>
                  <a:srgbClr val="93A4BD"/>
                </a:solidFill>
              </a:rPr>
              <a:t>111 images processed across FAST NUCES and UEM test sets</a:t>
            </a:r>
            <a:endParaRPr lang="en-US" sz="950" dirty="0"/>
          </a:p>
        </p:txBody>
      </p:sp>
      <p:sp>
        <p:nvSpPr>
          <p:cNvPr id="4" name="Shape 2"/>
          <p:cNvSpPr/>
          <p:nvPr/>
        </p:nvSpPr>
        <p:spPr>
          <a:xfrm>
            <a:off x="502920" y="1069848"/>
            <a:ext cx="1828800" cy="0"/>
          </a:xfrm>
          <a:prstGeom prst="line">
            <a:avLst/>
          </a:prstGeom>
          <a:noFill/>
          <a:ln w="25400">
            <a:solidFill>
              <a:srgbClr val="14B8A6"/>
            </a:solidFill>
            <a:prstDash val="solid"/>
          </a:ln>
        </p:spPr>
      </p:sp>
      <p:sp>
        <p:nvSpPr>
          <p:cNvPr id="5" name="Shape 3"/>
          <p:cNvSpPr/>
          <p:nvPr/>
        </p:nvSpPr>
        <p:spPr>
          <a:xfrm>
            <a:off x="2423160" y="1069848"/>
            <a:ext cx="640080" cy="0"/>
          </a:xfrm>
          <a:prstGeom prst="line">
            <a:avLst/>
          </a:prstGeom>
          <a:noFill/>
          <a:ln w="25400">
            <a:solidFill>
              <a:srgbClr val="F97316"/>
            </a:solidFill>
            <a:prstDash val="solid"/>
          </a:ln>
        </p:spPr>
      </p:sp>
      <p:pic>
        <p:nvPicPr>
          <p:cNvPr id="6" name="Image 0" descr="/mnt/data/pharmasafe_docx_media/word/media/image8.jpg">    </p:cNvPr>
          <p:cNvPicPr>
            <a:picLocks noChangeAspect="1"/>
          </p:cNvPicPr>
          <p:nvPr/>
        </p:nvPicPr>
        <p:blipFill>
          <a:blip r:embed="rId1"/>
          <a:stretch>
            <a:fillRect/>
          </a:stretch>
        </p:blipFill>
        <p:spPr>
          <a:xfrm>
            <a:off x="6263640" y="2180273"/>
            <a:ext cx="5212080" cy="1628775"/>
          </a:xfrm>
          <a:prstGeom prst="rect">
            <a:avLst/>
          </a:prstGeom>
        </p:spPr>
      </p:pic>
      <p:sp>
        <p:nvSpPr>
          <p:cNvPr id="7" name="Shape 4"/>
          <p:cNvSpPr/>
          <p:nvPr/>
        </p:nvSpPr>
        <p:spPr>
          <a:xfrm>
            <a:off x="6263640" y="1234440"/>
            <a:ext cx="5212080" cy="3520440"/>
          </a:xfrm>
          <a:prstGeom prst="rect">
            <a:avLst/>
          </a:prstGeom>
          <a:solidFill>
            <a:srgbClr val="000000">
              <a:alpha val="0"/>
            </a:srgbClr>
          </a:solidFill>
          <a:ln w="15240">
            <a:solidFill>
              <a:srgbClr val="14B8A6">
                <a:alpha val="65000"/>
              </a:srgbClr>
            </a:solidFill>
            <a:prstDash val="solid"/>
          </a:ln>
        </p:spPr>
      </p:sp>
      <p:sp>
        <p:nvSpPr>
          <p:cNvPr id="8" name="Text 5"/>
          <p:cNvSpPr/>
          <p:nvPr/>
        </p:nvSpPr>
        <p:spPr>
          <a:xfrm>
            <a:off x="6400800" y="4800600"/>
            <a:ext cx="4937760" cy="192024"/>
          </a:xfrm>
          <a:prstGeom prst="rect">
            <a:avLst/>
          </a:prstGeom>
          <a:noFill/>
          <a:ln/>
        </p:spPr>
        <p:txBody>
          <a:bodyPr wrap="square" lIns="0" tIns="0" rIns="0" bIns="0" rtlCol="0" anchor="ctr">
            <a:normAutofit/>
          </a:bodyPr>
          <a:lstStyle/>
          <a:p>
            <a:pPr indent="0" marL="0">
              <a:buNone/>
            </a:pPr>
            <a:r>
              <a:rPr lang="en-US" sz="800" i="1" dirty="0">
                <a:solidFill>
                  <a:srgbClr val="93A4BD"/>
                </a:solidFill>
              </a:rPr>
              <a:t>Detected boxes, average confidence and top corrected names</a:t>
            </a:r>
            <a:endParaRPr lang="en-US" sz="800" dirty="0"/>
          </a:p>
        </p:txBody>
      </p:sp>
      <p:sp>
        <p:nvSpPr>
          <p:cNvPr id="9" name="Text 6"/>
          <p:cNvSpPr/>
          <p:nvPr/>
        </p:nvSpPr>
        <p:spPr>
          <a:xfrm>
            <a:off x="685800" y="1417320"/>
            <a:ext cx="2011680" cy="475488"/>
          </a:xfrm>
          <a:prstGeom prst="rect">
            <a:avLst/>
          </a:prstGeom>
          <a:noFill/>
          <a:ln/>
        </p:spPr>
        <p:txBody>
          <a:bodyPr wrap="square" lIns="0" tIns="0" rIns="0" bIns="0" rtlCol="0" anchor="ctr">
            <a:normAutofit/>
          </a:bodyPr>
          <a:lstStyle/>
          <a:p>
            <a:pPr indent="0" marL="0">
              <a:buNone/>
            </a:pPr>
            <a:r>
              <a:rPr lang="en-US" sz="2600" b="1" dirty="0">
                <a:solidFill>
                  <a:srgbClr val="14B8A6"/>
                </a:solidFill>
              </a:rPr>
              <a:t>1,213</a:t>
            </a:r>
            <a:endParaRPr lang="en-US" sz="2600" dirty="0"/>
          </a:p>
        </p:txBody>
      </p:sp>
      <p:sp>
        <p:nvSpPr>
          <p:cNvPr id="10" name="Text 7"/>
          <p:cNvSpPr/>
          <p:nvPr/>
        </p:nvSpPr>
        <p:spPr>
          <a:xfrm>
            <a:off x="685800" y="1901952"/>
            <a:ext cx="201168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total detections</a:t>
            </a:r>
            <a:endParaRPr lang="en-US" sz="950" dirty="0"/>
          </a:p>
        </p:txBody>
      </p:sp>
      <p:sp>
        <p:nvSpPr>
          <p:cNvPr id="11" name="Text 8"/>
          <p:cNvSpPr/>
          <p:nvPr/>
        </p:nvSpPr>
        <p:spPr>
          <a:xfrm>
            <a:off x="3017520" y="1417320"/>
            <a:ext cx="2011680" cy="475488"/>
          </a:xfrm>
          <a:prstGeom prst="rect">
            <a:avLst/>
          </a:prstGeom>
          <a:noFill/>
          <a:ln/>
        </p:spPr>
        <p:txBody>
          <a:bodyPr wrap="square" lIns="0" tIns="0" rIns="0" bIns="0" rtlCol="0" anchor="ctr">
            <a:normAutofit/>
          </a:bodyPr>
          <a:lstStyle/>
          <a:p>
            <a:pPr indent="0" marL="0">
              <a:buNone/>
            </a:pPr>
            <a:r>
              <a:rPr lang="en-US" sz="2600" b="1" dirty="0">
                <a:solidFill>
                  <a:srgbClr val="F97316"/>
                </a:solidFill>
              </a:rPr>
              <a:t>554</a:t>
            </a:r>
            <a:endParaRPr lang="en-US" sz="2600" dirty="0"/>
          </a:p>
        </p:txBody>
      </p:sp>
      <p:sp>
        <p:nvSpPr>
          <p:cNvPr id="12" name="Text 9"/>
          <p:cNvSpPr/>
          <p:nvPr/>
        </p:nvSpPr>
        <p:spPr>
          <a:xfrm>
            <a:off x="3017520" y="1901952"/>
            <a:ext cx="201168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medicine_name boxes</a:t>
            </a:r>
            <a:endParaRPr lang="en-US" sz="950" dirty="0"/>
          </a:p>
        </p:txBody>
      </p:sp>
      <p:sp>
        <p:nvSpPr>
          <p:cNvPr id="13" name="Text 10"/>
          <p:cNvSpPr/>
          <p:nvPr/>
        </p:nvSpPr>
        <p:spPr>
          <a:xfrm>
            <a:off x="685800" y="2788920"/>
            <a:ext cx="2011680" cy="475488"/>
          </a:xfrm>
          <a:prstGeom prst="rect">
            <a:avLst/>
          </a:prstGeom>
          <a:noFill/>
          <a:ln/>
        </p:spPr>
        <p:txBody>
          <a:bodyPr wrap="square" lIns="0" tIns="0" rIns="0" bIns="0" rtlCol="0" anchor="ctr">
            <a:normAutofit/>
          </a:bodyPr>
          <a:lstStyle/>
          <a:p>
            <a:pPr indent="0" marL="0">
              <a:buNone/>
            </a:pPr>
            <a:r>
              <a:rPr lang="en-US" sz="2600" b="1" dirty="0">
                <a:solidFill>
                  <a:srgbClr val="22D3EE"/>
                </a:solidFill>
              </a:rPr>
              <a:t>417</a:t>
            </a:r>
            <a:endParaRPr lang="en-US" sz="2600" dirty="0"/>
          </a:p>
        </p:txBody>
      </p:sp>
      <p:sp>
        <p:nvSpPr>
          <p:cNvPr id="14" name="Text 11"/>
          <p:cNvSpPr/>
          <p:nvPr/>
        </p:nvSpPr>
        <p:spPr>
          <a:xfrm>
            <a:off x="685800" y="3273552"/>
            <a:ext cx="201168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medicine_dose boxes</a:t>
            </a:r>
            <a:endParaRPr lang="en-US" sz="950" dirty="0"/>
          </a:p>
        </p:txBody>
      </p:sp>
      <p:sp>
        <p:nvSpPr>
          <p:cNvPr id="15" name="Text 12"/>
          <p:cNvSpPr/>
          <p:nvPr/>
        </p:nvSpPr>
        <p:spPr>
          <a:xfrm>
            <a:off x="3017520" y="2788920"/>
            <a:ext cx="2011680" cy="475488"/>
          </a:xfrm>
          <a:prstGeom prst="rect">
            <a:avLst/>
          </a:prstGeom>
          <a:noFill/>
          <a:ln/>
        </p:spPr>
        <p:txBody>
          <a:bodyPr wrap="square" lIns="0" tIns="0" rIns="0" bIns="0" rtlCol="0" anchor="ctr">
            <a:normAutofit/>
          </a:bodyPr>
          <a:lstStyle/>
          <a:p>
            <a:pPr indent="0" marL="0">
              <a:buNone/>
            </a:pPr>
            <a:r>
              <a:rPr lang="en-US" sz="2600" b="1" dirty="0">
                <a:solidFill>
                  <a:srgbClr val="8B5CF6"/>
                </a:solidFill>
              </a:rPr>
              <a:t>242</a:t>
            </a:r>
            <a:endParaRPr lang="en-US" sz="2600" dirty="0"/>
          </a:p>
        </p:txBody>
      </p:sp>
      <p:sp>
        <p:nvSpPr>
          <p:cNvPr id="16" name="Text 13"/>
          <p:cNvSpPr/>
          <p:nvPr/>
        </p:nvSpPr>
        <p:spPr>
          <a:xfrm>
            <a:off x="3017520" y="3273552"/>
            <a:ext cx="2011680" cy="310896"/>
          </a:xfrm>
          <a:prstGeom prst="rect">
            <a:avLst/>
          </a:prstGeom>
          <a:noFill/>
          <a:ln/>
        </p:spPr>
        <p:txBody>
          <a:bodyPr wrap="square" lIns="0" tIns="0" rIns="0" bIns="0" rtlCol="0" anchor="ctr">
            <a:normAutofit/>
          </a:bodyPr>
          <a:lstStyle/>
          <a:p>
            <a:pPr indent="0" marL="0">
              <a:buNone/>
            </a:pPr>
            <a:r>
              <a:rPr lang="en-US" sz="950" dirty="0">
                <a:solidFill>
                  <a:srgbClr val="D5E7FF"/>
                </a:solidFill>
              </a:rPr>
              <a:t>medicine_type boxes</a:t>
            </a:r>
            <a:endParaRPr lang="en-US" sz="950" dirty="0"/>
          </a:p>
        </p:txBody>
      </p:sp>
      <p:sp>
        <p:nvSpPr>
          <p:cNvPr id="17" name="Text 14"/>
          <p:cNvSpPr/>
          <p:nvPr/>
        </p:nvSpPr>
        <p:spPr>
          <a:xfrm>
            <a:off x="713232" y="4572000"/>
            <a:ext cx="5120640" cy="594360"/>
          </a:xfrm>
          <a:prstGeom prst="rect">
            <a:avLst/>
          </a:prstGeom>
          <a:noFill/>
          <a:ln/>
        </p:spPr>
        <p:txBody>
          <a:bodyPr wrap="square" lIns="1016" tIns="1016" rIns="1016" bIns="1016" rtlCol="0" anchor="ctr">
            <a:normAutofit/>
          </a:bodyPr>
          <a:lstStyle/>
          <a:p>
            <a:pPr indent="0" marL="0">
              <a:buNone/>
            </a:pPr>
            <a:r>
              <a:rPr lang="en-US" sz="1450" dirty="0">
                <a:solidFill>
                  <a:srgbClr val="D5E7FF"/>
                </a:solidFill>
                <a:latin typeface="Aptos" pitchFamily="34" charset="0"/>
                <a:ea typeface="Aptos" pitchFamily="34" charset="-122"/>
                <a:cs typeface="Aptos" pitchFamily="34" charset="-120"/>
              </a:rPr>
              <a:t>106 of 111 images produced at least one detection. TrOCR returned non-empty output for all 1,213 crops.</a:t>
            </a:r>
            <a:endParaRPr lang="en-US" sz="1450" dirty="0"/>
          </a:p>
        </p:txBody>
      </p:sp>
      <p:sp>
        <p:nvSpPr>
          <p:cNvPr id="18" name="Text 15"/>
          <p:cNvSpPr/>
          <p:nvPr/>
        </p:nvSpPr>
        <p:spPr>
          <a:xfrm>
            <a:off x="502920" y="6510528"/>
            <a:ext cx="1828800" cy="164592"/>
          </a:xfrm>
          <a:prstGeom prst="rect">
            <a:avLst/>
          </a:prstGeom>
          <a:noFill/>
          <a:ln/>
        </p:spPr>
        <p:txBody>
          <a:bodyPr wrap="square" lIns="0" tIns="0" rIns="0" bIns="0" rtlCol="0" anchor="ctr"/>
          <a:lstStyle/>
          <a:p>
            <a:pPr indent="0" marL="0">
              <a:buNone/>
            </a:pPr>
            <a:r>
              <a:rPr lang="en-US" sz="800" dirty="0">
                <a:solidFill>
                  <a:srgbClr val="93A4BD"/>
                </a:solidFill>
              </a:rPr>
              <a:t>PharmaSafe OCR</a:t>
            </a:r>
            <a:endParaRPr lang="en-US" sz="800" dirty="0"/>
          </a:p>
        </p:txBody>
      </p:sp>
      <p:sp>
        <p:nvSpPr>
          <p:cNvPr id="19" name="Text 16"/>
          <p:cNvSpPr/>
          <p:nvPr/>
        </p:nvSpPr>
        <p:spPr>
          <a:xfrm>
            <a:off x="11247120" y="6483096"/>
            <a:ext cx="457200" cy="201168"/>
          </a:xfrm>
          <a:prstGeom prst="rect">
            <a:avLst/>
          </a:prstGeom>
          <a:noFill/>
          <a:ln/>
        </p:spPr>
        <p:txBody>
          <a:bodyPr wrap="square" lIns="0" tIns="0" rIns="0" bIns="0" rtlCol="0" anchor="ctr"/>
          <a:lstStyle/>
          <a:p>
            <a:pPr algn="r" indent="0" marL="0">
              <a:buNone/>
            </a:pPr>
            <a:r>
              <a:rPr lang="en-US" sz="900" b="1" dirty="0">
                <a:solidFill>
                  <a:srgbClr val="14B8A6"/>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11F"/>
        </a:solidFill>
      </p:bgPr>
    </p:bg>
    <p:spTree>
      <p:nvGrpSpPr>
        <p:cNvPr id="1" name=""/>
        <p:cNvGrpSpPr/>
        <p:nvPr/>
      </p:nvGrpSpPr>
      <p:grpSpPr>
        <a:xfrm>
          <a:off x="0" y="0"/>
          <a:ext cx="0" cy="0"/>
          <a:chOff x="0" y="0"/>
          <a:chExt cx="0" cy="0"/>
        </a:xfrm>
      </p:grpSpPr>
      <p:sp>
        <p:nvSpPr>
          <p:cNvPr id="2" name="Text 0"/>
          <p:cNvSpPr/>
          <p:nvPr/>
        </p:nvSpPr>
        <p:spPr>
          <a:xfrm>
            <a:off x="502920" y="347472"/>
            <a:ext cx="7132320" cy="411480"/>
          </a:xfrm>
          <a:prstGeom prst="rect">
            <a:avLst/>
          </a:prstGeom>
          <a:noFill/>
          <a:ln/>
        </p:spPr>
        <p:txBody>
          <a:bodyPr wrap="square" lIns="0" tIns="0" rIns="0" bIns="0" rtlCol="0" anchor="ctr">
            <a:normAutofit/>
          </a:bodyPr>
          <a:lstStyle/>
          <a:p>
            <a:pPr indent="0" marL="0">
              <a:buNone/>
            </a:pPr>
            <a:r>
              <a:rPr lang="en-US" sz="2800" b="1" dirty="0">
                <a:solidFill>
                  <a:srgbClr val="EAF2FF"/>
                </a:solidFill>
                <a:latin typeface="Aptos Display" pitchFamily="34" charset="0"/>
                <a:ea typeface="Aptos Display" pitchFamily="34" charset="-122"/>
                <a:cs typeface="Aptos Display" pitchFamily="34" charset="-120"/>
              </a:rPr>
              <a:t>Limitations and future work</a:t>
            </a:r>
            <a:endParaRPr lang="en-US" sz="2800" dirty="0"/>
          </a:p>
        </p:txBody>
      </p:sp>
      <p:sp>
        <p:nvSpPr>
          <p:cNvPr id="3" name="Text 1"/>
          <p:cNvSpPr/>
          <p:nvPr/>
        </p:nvSpPr>
        <p:spPr>
          <a:xfrm>
            <a:off x="530352" y="804672"/>
            <a:ext cx="6035040" cy="228600"/>
          </a:xfrm>
          <a:prstGeom prst="rect">
            <a:avLst/>
          </a:prstGeom>
          <a:noFill/>
          <a:ln/>
        </p:spPr>
        <p:txBody>
          <a:bodyPr wrap="square" lIns="0" tIns="0" rIns="0" bIns="0" rtlCol="0" anchor="ctr">
            <a:normAutofit/>
          </a:bodyPr>
          <a:lstStyle/>
          <a:p>
            <a:pPr indent="0" marL="0">
              <a:buNone/>
            </a:pPr>
            <a:r>
              <a:rPr lang="en-US" sz="950" dirty="0">
                <a:solidFill>
                  <a:srgbClr val="93A4BD"/>
                </a:solidFill>
              </a:rPr>
              <a:t>The main bottleneck is data fragmentation, not model architecture</a:t>
            </a:r>
            <a:endParaRPr lang="en-US" sz="950" dirty="0"/>
          </a:p>
        </p:txBody>
      </p:sp>
      <p:sp>
        <p:nvSpPr>
          <p:cNvPr id="4" name="Shape 2"/>
          <p:cNvSpPr/>
          <p:nvPr/>
        </p:nvSpPr>
        <p:spPr>
          <a:xfrm>
            <a:off x="502920" y="1069848"/>
            <a:ext cx="1828800" cy="0"/>
          </a:xfrm>
          <a:prstGeom prst="line">
            <a:avLst/>
          </a:prstGeom>
          <a:noFill/>
          <a:ln w="25400">
            <a:solidFill>
              <a:srgbClr val="14B8A6"/>
            </a:solidFill>
            <a:prstDash val="solid"/>
          </a:ln>
        </p:spPr>
      </p:sp>
      <p:sp>
        <p:nvSpPr>
          <p:cNvPr id="5" name="Shape 3"/>
          <p:cNvSpPr/>
          <p:nvPr/>
        </p:nvSpPr>
        <p:spPr>
          <a:xfrm>
            <a:off x="2423160" y="1069848"/>
            <a:ext cx="640080" cy="0"/>
          </a:xfrm>
          <a:prstGeom prst="line">
            <a:avLst/>
          </a:prstGeom>
          <a:noFill/>
          <a:ln w="25400">
            <a:solidFill>
              <a:srgbClr val="F97316"/>
            </a:solidFill>
            <a:prstDash val="solid"/>
          </a:ln>
        </p:spPr>
      </p:sp>
      <p:sp>
        <p:nvSpPr>
          <p:cNvPr id="6" name="Text 4"/>
          <p:cNvSpPr/>
          <p:nvPr/>
        </p:nvSpPr>
        <p:spPr>
          <a:xfrm>
            <a:off x="777240" y="1325880"/>
            <a:ext cx="2560320" cy="219456"/>
          </a:xfrm>
          <a:prstGeom prst="rect">
            <a:avLst/>
          </a:prstGeom>
          <a:noFill/>
          <a:ln/>
        </p:spPr>
        <p:txBody>
          <a:bodyPr wrap="square" lIns="0" tIns="0" rIns="0" bIns="0" rtlCol="0" anchor="ctr"/>
          <a:lstStyle/>
          <a:p>
            <a:pPr indent="0" marL="0">
              <a:buNone/>
            </a:pPr>
            <a:r>
              <a:rPr lang="en-US" sz="750" b="1" dirty="0">
                <a:solidFill>
                  <a:srgbClr val="F97316"/>
                </a:solidFill>
              </a:rPr>
              <a:t>CURRENT LIMITATIONS</a:t>
            </a:r>
            <a:endParaRPr lang="en-US" sz="750" dirty="0"/>
          </a:p>
        </p:txBody>
      </p:sp>
      <p:sp>
        <p:nvSpPr>
          <p:cNvPr id="7" name="Text 5"/>
          <p:cNvSpPr/>
          <p:nvPr/>
        </p:nvSpPr>
        <p:spPr>
          <a:xfrm>
            <a:off x="777240" y="1664208"/>
            <a:ext cx="5029200" cy="1828800"/>
          </a:xfrm>
          <a:prstGeom prst="rect">
            <a:avLst/>
          </a:prstGeom>
          <a:noFill/>
          <a:ln/>
        </p:spPr>
        <p:txBody>
          <a:bodyPr wrap="square" lIns="762" tIns="762" rIns="762" bIns="762" rtlCol="0" anchor="ctr">
            <a:normAutofit/>
          </a:bodyPr>
          <a:lstStyle/>
          <a:p>
            <a:pPr indent="0" marL="0">
              <a:buNone/>
            </a:pPr>
            <a:r>
              <a:rPr lang="en-US" sz="1350" b="1" dirty="0">
                <a:solidFill>
                  <a:srgbClr val="14B8A6"/>
                </a:solidFill>
              </a:rPr>
              <a:t>• </a:t>
            </a:r>
            <a:pPr indent="0" marL="0">
              <a:buNone/>
            </a:pPr>
            <a:r>
              <a:rPr lang="en-US" sz="1350" dirty="0">
                <a:solidFill>
                  <a:srgbClr val="D5E7FF"/>
                </a:solidFill>
              </a:rPr>
              <a:t>No single public dataset covers detection, OCR and standardized names together
</a:t>
            </a:r>
            <a:pPr indent="0" marL="0">
              <a:buNone/>
            </a:pPr>
            <a:r>
              <a:rPr lang="en-US" sz="1350" b="1" dirty="0">
                <a:solidFill>
                  <a:srgbClr val="14B8A6"/>
                </a:solidFill>
              </a:rPr>
              <a:t>• </a:t>
            </a:r>
            <a:pPr indent="0" marL="0">
              <a:buNone/>
            </a:pPr>
            <a:r>
              <a:rPr lang="en-US" sz="1350" dirty="0">
                <a:solidFill>
                  <a:srgbClr val="D5E7FF"/>
                </a:solidFill>
              </a:rPr>
              <a:t>Cross-dataset domain gap between YOLO crops and TrOCR word-level training data
</a:t>
            </a:r>
            <a:pPr indent="0" marL="0">
              <a:buNone/>
            </a:pPr>
            <a:r>
              <a:rPr lang="en-US" sz="1350" b="1" dirty="0">
                <a:solidFill>
                  <a:srgbClr val="14B8A6"/>
                </a:solidFill>
              </a:rPr>
              <a:t>• </a:t>
            </a:r>
            <a:pPr indent="0" marL="0">
              <a:buNone/>
            </a:pPr>
            <a:r>
              <a:rPr lang="en-US" sz="1350" dirty="0">
                <a:solidFill>
                  <a:srgbClr val="D5E7FF"/>
                </a:solidFill>
              </a:rPr>
              <a:t>Numeric dosage OCR remains difficult
</a:t>
            </a:r>
            <a:pPr indent="0" marL="0">
              <a:buNone/>
            </a:pPr>
            <a:r>
              <a:rPr lang="en-US" sz="1350" b="1" dirty="0">
                <a:solidFill>
                  <a:srgbClr val="14B8A6"/>
                </a:solidFill>
              </a:rPr>
              <a:t>• </a:t>
            </a:r>
            <a:pPr indent="0" marL="0">
              <a:buNone/>
            </a:pPr>
            <a:r>
              <a:rPr lang="en-US" sz="1350" dirty="0">
                <a:solidFill>
                  <a:srgbClr val="D5E7FF"/>
                </a:solidFill>
              </a:rPr>
              <a:t>English drug-name coverage only; multilingual text is degraded</a:t>
            </a:r>
            <a:endParaRPr lang="en-US" sz="1350" dirty="0"/>
          </a:p>
        </p:txBody>
      </p:sp>
      <p:sp>
        <p:nvSpPr>
          <p:cNvPr id="8" name="Text 6"/>
          <p:cNvSpPr/>
          <p:nvPr/>
        </p:nvSpPr>
        <p:spPr>
          <a:xfrm>
            <a:off x="6400800" y="1325880"/>
            <a:ext cx="2743200" cy="219456"/>
          </a:xfrm>
          <a:prstGeom prst="rect">
            <a:avLst/>
          </a:prstGeom>
          <a:noFill/>
          <a:ln/>
        </p:spPr>
        <p:txBody>
          <a:bodyPr wrap="square" lIns="0" tIns="0" rIns="0" bIns="0" rtlCol="0" anchor="ctr"/>
          <a:lstStyle/>
          <a:p>
            <a:pPr indent="0" marL="0">
              <a:buNone/>
            </a:pPr>
            <a:r>
              <a:rPr lang="en-US" sz="750" b="1" dirty="0">
                <a:solidFill>
                  <a:srgbClr val="14B8A6"/>
                </a:solidFill>
              </a:rPr>
              <a:t>HIGHEST-IMPACT NEXT STEPS</a:t>
            </a:r>
            <a:endParaRPr lang="en-US" sz="750" dirty="0"/>
          </a:p>
        </p:txBody>
      </p:sp>
      <p:sp>
        <p:nvSpPr>
          <p:cNvPr id="9" name="Text 7"/>
          <p:cNvSpPr/>
          <p:nvPr/>
        </p:nvSpPr>
        <p:spPr>
          <a:xfrm>
            <a:off x="6400800" y="1664208"/>
            <a:ext cx="4937760" cy="2194560"/>
          </a:xfrm>
          <a:prstGeom prst="rect">
            <a:avLst/>
          </a:prstGeom>
          <a:noFill/>
          <a:ln/>
        </p:spPr>
        <p:txBody>
          <a:bodyPr wrap="square" lIns="762" tIns="762" rIns="762" bIns="762" rtlCol="0" anchor="ctr">
            <a:normAutofit/>
          </a:bodyPr>
          <a:lstStyle/>
          <a:p>
            <a:pPr indent="0" marL="0">
              <a:buNone/>
            </a:pPr>
            <a:r>
              <a:rPr lang="en-US" sz="1350" b="1" dirty="0">
                <a:solidFill>
                  <a:srgbClr val="14B8A6"/>
                </a:solidFill>
              </a:rPr>
              <a:t>• </a:t>
            </a:r>
            <a:pPr indent="0" marL="0">
              <a:buNone/>
            </a:pPr>
            <a:r>
              <a:rPr lang="en-US" sz="1350" dirty="0">
                <a:solidFill>
                  <a:srgbClr val="D5E7FF"/>
                </a:solidFill>
              </a:rPr>
              <a:t>Build a unified prescription dataset with boxes, OCR text and standard mappings
</a:t>
            </a:r>
            <a:pPr indent="0" marL="0">
              <a:buNone/>
            </a:pPr>
            <a:r>
              <a:rPr lang="en-US" sz="1350" b="1" dirty="0">
                <a:solidFill>
                  <a:srgbClr val="14B8A6"/>
                </a:solidFill>
              </a:rPr>
              <a:t>• </a:t>
            </a:r>
            <a:pPr indent="0" marL="0">
              <a:buNone/>
            </a:pPr>
            <a:r>
              <a:rPr lang="en-US" sz="1350" dirty="0">
                <a:solidFill>
                  <a:srgbClr val="D5E7FF"/>
                </a:solidFill>
              </a:rPr>
              <a:t>Train larger YOLO variants when more data is available
</a:t>
            </a:r>
            <a:pPr indent="0" marL="0">
              <a:buNone/>
            </a:pPr>
            <a:r>
              <a:rPr lang="en-US" sz="1350" b="1" dirty="0">
                <a:solidFill>
                  <a:srgbClr val="14B8A6"/>
                </a:solidFill>
              </a:rPr>
              <a:t>• </a:t>
            </a:r>
            <a:pPr indent="0" marL="0">
              <a:buNone/>
            </a:pPr>
            <a:r>
              <a:rPr lang="en-US" sz="1350" dirty="0">
                <a:solidFill>
                  <a:srgbClr val="D5E7FF"/>
                </a:solidFill>
              </a:rPr>
              <a:t>Add multilingual OCR for Bengali / Urdu scripts
</a:t>
            </a:r>
            <a:pPr indent="0" marL="0">
              <a:buNone/>
            </a:pPr>
            <a:r>
              <a:rPr lang="en-US" sz="1350" b="1" dirty="0">
                <a:solidFill>
                  <a:srgbClr val="14B8A6"/>
                </a:solidFill>
              </a:rPr>
              <a:t>• </a:t>
            </a:r>
            <a:pPr indent="0" marL="0">
              <a:buNone/>
            </a:pPr>
            <a:r>
              <a:rPr lang="en-US" sz="1350" dirty="0">
                <a:solidFill>
                  <a:srgbClr val="D5E7FF"/>
                </a:solidFill>
              </a:rPr>
              <a:t>Use active learning with pharmacist verification
</a:t>
            </a:r>
            <a:pPr indent="0" marL="0">
              <a:buNone/>
            </a:pPr>
            <a:r>
              <a:rPr lang="en-US" sz="1350" b="1" dirty="0">
                <a:solidFill>
                  <a:srgbClr val="14B8A6"/>
                </a:solidFill>
              </a:rPr>
              <a:t>• </a:t>
            </a:r>
            <a:pPr indent="0" marL="0">
              <a:buNone/>
            </a:pPr>
            <a:r>
              <a:rPr lang="en-US" sz="1350" dirty="0">
                <a:solidFill>
                  <a:srgbClr val="D5E7FF"/>
                </a:solidFill>
              </a:rPr>
              <a:t>Explore pharmacological language models for correction</a:t>
            </a:r>
            <a:endParaRPr lang="en-US" sz="1350" dirty="0"/>
          </a:p>
        </p:txBody>
      </p:sp>
      <p:pic>
        <p:nvPicPr>
          <p:cNvPr id="10" name="Image 0" descr="/mnt/data/wide_cinematic_futuristic_medical_technology_conc_batch_4.png">    </p:cNvPr>
          <p:cNvPicPr>
            <a:picLocks noChangeAspect="1"/>
          </p:cNvPicPr>
          <p:nvPr/>
        </p:nvPicPr>
        <p:blipFill>
          <a:blip r:embed="rId1"/>
          <a:stretch>
            <a:fillRect/>
          </a:stretch>
        </p:blipFill>
        <p:spPr>
          <a:xfrm>
            <a:off x="4879966" y="4343400"/>
            <a:ext cx="2355868" cy="1325880"/>
          </a:xfrm>
          <a:prstGeom prst="rect">
            <a:avLst/>
          </a:prstGeom>
        </p:spPr>
      </p:pic>
      <p:sp>
        <p:nvSpPr>
          <p:cNvPr id="11" name="Shape 8"/>
          <p:cNvSpPr/>
          <p:nvPr/>
        </p:nvSpPr>
        <p:spPr>
          <a:xfrm>
            <a:off x="777240" y="4343400"/>
            <a:ext cx="10561320" cy="1325880"/>
          </a:xfrm>
          <a:prstGeom prst="rect">
            <a:avLst/>
          </a:prstGeom>
          <a:solidFill>
            <a:srgbClr val="000000">
              <a:alpha val="0"/>
            </a:srgbClr>
          </a:solidFill>
          <a:ln w="15240">
            <a:solidFill>
              <a:srgbClr val="14B8A6">
                <a:alpha val="65000"/>
              </a:srgbClr>
            </a:solidFill>
            <a:prstDash val="solid"/>
          </a:ln>
        </p:spPr>
      </p:sp>
      <p:sp>
        <p:nvSpPr>
          <p:cNvPr id="12" name="Text 9"/>
          <p:cNvSpPr/>
          <p:nvPr/>
        </p:nvSpPr>
        <p:spPr>
          <a:xfrm>
            <a:off x="914400" y="5715000"/>
            <a:ext cx="10287000" cy="192024"/>
          </a:xfrm>
          <a:prstGeom prst="rect">
            <a:avLst/>
          </a:prstGeom>
          <a:noFill/>
          <a:ln/>
        </p:spPr>
        <p:txBody>
          <a:bodyPr wrap="square" lIns="0" tIns="0" rIns="0" bIns="0" rtlCol="0" anchor="ctr">
            <a:normAutofit/>
          </a:bodyPr>
          <a:lstStyle/>
          <a:p>
            <a:pPr indent="0" marL="0">
              <a:buNone/>
            </a:pPr>
            <a:r>
              <a:rPr lang="en-US" sz="800" i="1" dirty="0">
                <a:solidFill>
                  <a:srgbClr val="93A4BD"/>
                </a:solidFill>
              </a:rPr>
              <a:t>Future direction: human-in-the-loop validation and wider language coverage</a:t>
            </a:r>
            <a:endParaRPr lang="en-US" sz="800" dirty="0"/>
          </a:p>
        </p:txBody>
      </p:sp>
      <p:sp>
        <p:nvSpPr>
          <p:cNvPr id="13" name="Text 10"/>
          <p:cNvSpPr/>
          <p:nvPr/>
        </p:nvSpPr>
        <p:spPr>
          <a:xfrm>
            <a:off x="502920" y="6510528"/>
            <a:ext cx="1828800" cy="164592"/>
          </a:xfrm>
          <a:prstGeom prst="rect">
            <a:avLst/>
          </a:prstGeom>
          <a:noFill/>
          <a:ln/>
        </p:spPr>
        <p:txBody>
          <a:bodyPr wrap="square" lIns="0" tIns="0" rIns="0" bIns="0" rtlCol="0" anchor="ctr"/>
          <a:lstStyle/>
          <a:p>
            <a:pPr indent="0" marL="0">
              <a:buNone/>
            </a:pPr>
            <a:r>
              <a:rPr lang="en-US" sz="800" dirty="0">
                <a:solidFill>
                  <a:srgbClr val="93A4BD"/>
                </a:solidFill>
              </a:rPr>
              <a:t>PharmaSafe OCR</a:t>
            </a:r>
            <a:endParaRPr lang="en-US" sz="800" dirty="0"/>
          </a:p>
        </p:txBody>
      </p:sp>
      <p:sp>
        <p:nvSpPr>
          <p:cNvPr id="14" name="Text 11"/>
          <p:cNvSpPr/>
          <p:nvPr/>
        </p:nvSpPr>
        <p:spPr>
          <a:xfrm>
            <a:off x="11247120" y="6483096"/>
            <a:ext cx="457200" cy="201168"/>
          </a:xfrm>
          <a:prstGeom prst="rect">
            <a:avLst/>
          </a:prstGeom>
          <a:noFill/>
          <a:ln/>
        </p:spPr>
        <p:txBody>
          <a:bodyPr wrap="square" lIns="0" tIns="0" rIns="0" bIns="0" rtlCol="0" anchor="ctr"/>
          <a:lstStyle/>
          <a:p>
            <a:pPr algn="r" indent="0" marL="0">
              <a:buNone/>
            </a:pPr>
            <a:r>
              <a:rPr lang="en-US" sz="900" b="1" dirty="0">
                <a:solidFill>
                  <a:srgbClr val="14B8A6"/>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111F"/>
        </a:solidFill>
      </p:bgPr>
    </p:bg>
    <p:spTree>
      <p:nvGrpSpPr>
        <p:cNvPr id="1" name=""/>
        <p:cNvGrpSpPr/>
        <p:nvPr/>
      </p:nvGrpSpPr>
      <p:grpSpPr>
        <a:xfrm>
          <a:off x="0" y="0"/>
          <a:ext cx="0" cy="0"/>
          <a:chOff x="0" y="0"/>
          <a:chExt cx="0" cy="0"/>
        </a:xfrm>
      </p:grpSpPr>
      <p:pic>
        <p:nvPicPr>
          <p:cNvPr id="2" name="Image 0" descr="/mnt/data/a_high_resolution_cinematic_abstract_medical_techn_batch_1.png">    </p:cNvPr>
          <p:cNvPicPr>
            <a:picLocks noChangeAspect="1"/>
          </p:cNvPicPr>
          <p:nvPr/>
        </p:nvPicPr>
        <p:blipFill>
          <a:blip r:embed="rId1"/>
          <a:srcRect l="0" r="0" t="25" b="25"/>
          <a:stretch/>
        </p:blipFill>
        <p:spPr>
          <a:xfrm>
            <a:off x="0" y="0"/>
            <a:ext cx="12191695" cy="6858000"/>
          </a:xfrm>
          <a:prstGeom prst="rect">
            <a:avLst/>
          </a:prstGeom>
        </p:spPr>
      </p:pic>
      <p:sp>
        <p:nvSpPr>
          <p:cNvPr id="3" name="Text 0"/>
          <p:cNvSpPr/>
          <p:nvPr/>
        </p:nvSpPr>
        <p:spPr>
          <a:xfrm>
            <a:off x="502920" y="347472"/>
            <a:ext cx="7132320" cy="411480"/>
          </a:xfrm>
          <a:prstGeom prst="rect">
            <a:avLst/>
          </a:prstGeom>
          <a:noFill/>
          <a:ln/>
        </p:spPr>
        <p:txBody>
          <a:bodyPr wrap="square" lIns="0" tIns="0" rIns="0" bIns="0" rtlCol="0" anchor="ctr">
            <a:normAutofit/>
          </a:bodyPr>
          <a:lstStyle/>
          <a:p>
            <a:pPr indent="0" marL="0">
              <a:buNone/>
            </a:pPr>
            <a:r>
              <a:rPr lang="en-US" sz="2800" b="1" dirty="0">
                <a:solidFill>
                  <a:srgbClr val="EAF2FF"/>
                </a:solidFill>
                <a:latin typeface="Aptos Display" pitchFamily="34" charset="0"/>
                <a:ea typeface="Aptos Display" pitchFamily="34" charset="-122"/>
                <a:cs typeface="Aptos Display" pitchFamily="34" charset="-120"/>
              </a:rPr>
              <a:t>Key takeaways</a:t>
            </a:r>
            <a:endParaRPr lang="en-US" sz="2800" dirty="0"/>
          </a:p>
        </p:txBody>
      </p:sp>
      <p:sp>
        <p:nvSpPr>
          <p:cNvPr id="4" name="Text 1"/>
          <p:cNvSpPr/>
          <p:nvPr/>
        </p:nvSpPr>
        <p:spPr>
          <a:xfrm>
            <a:off x="530352" y="804672"/>
            <a:ext cx="6035040" cy="228600"/>
          </a:xfrm>
          <a:prstGeom prst="rect">
            <a:avLst/>
          </a:prstGeom>
          <a:noFill/>
          <a:ln/>
        </p:spPr>
        <p:txBody>
          <a:bodyPr wrap="square" lIns="0" tIns="0" rIns="0" bIns="0" rtlCol="0" anchor="ctr">
            <a:normAutofit/>
          </a:bodyPr>
          <a:lstStyle/>
          <a:p>
            <a:pPr indent="0" marL="0">
              <a:buNone/>
            </a:pPr>
            <a:r>
              <a:rPr lang="en-US" sz="950" dirty="0">
                <a:solidFill>
                  <a:srgbClr val="93A4BD"/>
                </a:solidFill>
              </a:rPr>
              <a:t>A traceable pipeline for prescription information extraction</a:t>
            </a:r>
            <a:endParaRPr lang="en-US" sz="950" dirty="0"/>
          </a:p>
        </p:txBody>
      </p:sp>
      <p:sp>
        <p:nvSpPr>
          <p:cNvPr id="5" name="Shape 2"/>
          <p:cNvSpPr/>
          <p:nvPr/>
        </p:nvSpPr>
        <p:spPr>
          <a:xfrm>
            <a:off x="502920" y="1069848"/>
            <a:ext cx="1828800" cy="0"/>
          </a:xfrm>
          <a:prstGeom prst="line">
            <a:avLst/>
          </a:prstGeom>
          <a:noFill/>
          <a:ln w="25400">
            <a:solidFill>
              <a:srgbClr val="14B8A6"/>
            </a:solidFill>
            <a:prstDash val="solid"/>
          </a:ln>
        </p:spPr>
      </p:sp>
      <p:sp>
        <p:nvSpPr>
          <p:cNvPr id="6" name="Shape 3"/>
          <p:cNvSpPr/>
          <p:nvPr/>
        </p:nvSpPr>
        <p:spPr>
          <a:xfrm>
            <a:off x="2423160" y="1069848"/>
            <a:ext cx="640080" cy="0"/>
          </a:xfrm>
          <a:prstGeom prst="line">
            <a:avLst/>
          </a:prstGeom>
          <a:noFill/>
          <a:ln w="25400">
            <a:solidFill>
              <a:srgbClr val="F97316"/>
            </a:solidFill>
            <a:prstDash val="solid"/>
          </a:ln>
        </p:spPr>
      </p:sp>
      <p:sp>
        <p:nvSpPr>
          <p:cNvPr id="7" name="Text 4"/>
          <p:cNvSpPr/>
          <p:nvPr/>
        </p:nvSpPr>
        <p:spPr>
          <a:xfrm>
            <a:off x="777240" y="1901952"/>
            <a:ext cx="1828800" cy="640080"/>
          </a:xfrm>
          <a:prstGeom prst="rect">
            <a:avLst/>
          </a:prstGeom>
          <a:solidFill>
            <a:srgbClr val="14243A">
              <a:alpha val="96000"/>
            </a:srgbClr>
          </a:solidFill>
          <a:ln w="15240">
            <a:solidFill>
              <a:srgbClr val="14B8A6">
                <a:alpha val="90000"/>
              </a:srgbClr>
            </a:solidFill>
          </a:ln>
        </p:spPr>
        <p:txBody>
          <a:bodyPr wrap="square" lIns="889" tIns="889" rIns="889" bIns="889" rtlCol="0" anchor="ctr">
            <a:normAutofit/>
          </a:bodyPr>
          <a:lstStyle/>
          <a:p>
            <a:pPr algn="ctr" indent="0" marL="0">
              <a:buNone/>
            </a:pPr>
            <a:r>
              <a:rPr lang="en-US" sz="1800" b="1" dirty="0">
                <a:solidFill>
                  <a:srgbClr val="EAF2FF"/>
                </a:solidFill>
              </a:rPr>
              <a:t>Detect</a:t>
            </a:r>
            <a:endParaRPr lang="en-US" sz="1800" dirty="0"/>
          </a:p>
        </p:txBody>
      </p:sp>
      <p:sp>
        <p:nvSpPr>
          <p:cNvPr id="8" name="Text 5"/>
          <p:cNvSpPr/>
          <p:nvPr/>
        </p:nvSpPr>
        <p:spPr>
          <a:xfrm>
            <a:off x="2880360" y="1901952"/>
            <a:ext cx="1828800" cy="640080"/>
          </a:xfrm>
          <a:prstGeom prst="rect">
            <a:avLst/>
          </a:prstGeom>
          <a:solidFill>
            <a:srgbClr val="14243A">
              <a:alpha val="96000"/>
            </a:srgbClr>
          </a:solidFill>
          <a:ln w="15240">
            <a:solidFill>
              <a:srgbClr val="22D3EE">
                <a:alpha val="90000"/>
              </a:srgbClr>
            </a:solidFill>
          </a:ln>
        </p:spPr>
        <p:txBody>
          <a:bodyPr wrap="square" lIns="889" tIns="889" rIns="889" bIns="889" rtlCol="0" anchor="ctr">
            <a:normAutofit/>
          </a:bodyPr>
          <a:lstStyle/>
          <a:p>
            <a:pPr algn="ctr" indent="0" marL="0">
              <a:buNone/>
            </a:pPr>
            <a:r>
              <a:rPr lang="en-US" sz="1800" b="1" dirty="0">
                <a:solidFill>
                  <a:srgbClr val="EAF2FF"/>
                </a:solidFill>
              </a:rPr>
              <a:t>Read</a:t>
            </a:r>
            <a:endParaRPr lang="en-US" sz="1800" dirty="0"/>
          </a:p>
        </p:txBody>
      </p:sp>
      <p:sp>
        <p:nvSpPr>
          <p:cNvPr id="9" name="Text 6"/>
          <p:cNvSpPr/>
          <p:nvPr/>
        </p:nvSpPr>
        <p:spPr>
          <a:xfrm>
            <a:off x="4983480" y="1901952"/>
            <a:ext cx="1828800" cy="640080"/>
          </a:xfrm>
          <a:prstGeom prst="rect">
            <a:avLst/>
          </a:prstGeom>
          <a:solidFill>
            <a:srgbClr val="14243A">
              <a:alpha val="96000"/>
            </a:srgbClr>
          </a:solidFill>
          <a:ln w="15240">
            <a:solidFill>
              <a:srgbClr val="F97316">
                <a:alpha val="90000"/>
              </a:srgbClr>
            </a:solidFill>
          </a:ln>
        </p:spPr>
        <p:txBody>
          <a:bodyPr wrap="square" lIns="889" tIns="889" rIns="889" bIns="889" rtlCol="0" anchor="ctr">
            <a:normAutofit/>
          </a:bodyPr>
          <a:lstStyle/>
          <a:p>
            <a:pPr algn="ctr" indent="0" marL="0">
              <a:buNone/>
            </a:pPr>
            <a:r>
              <a:rPr lang="en-US" sz="1800" b="1" dirty="0">
                <a:solidFill>
                  <a:srgbClr val="EAF2FF"/>
                </a:solidFill>
              </a:rPr>
              <a:t>Correct</a:t>
            </a:r>
            <a:endParaRPr lang="en-US" sz="1800" dirty="0"/>
          </a:p>
        </p:txBody>
      </p:sp>
      <p:sp>
        <p:nvSpPr>
          <p:cNvPr id="10" name="Text 7"/>
          <p:cNvSpPr/>
          <p:nvPr/>
        </p:nvSpPr>
        <p:spPr>
          <a:xfrm>
            <a:off x="7086600" y="1901952"/>
            <a:ext cx="1828800" cy="640080"/>
          </a:xfrm>
          <a:prstGeom prst="rect">
            <a:avLst/>
          </a:prstGeom>
          <a:solidFill>
            <a:srgbClr val="14243A">
              <a:alpha val="96000"/>
            </a:srgbClr>
          </a:solidFill>
          <a:ln w="15240">
            <a:solidFill>
              <a:srgbClr val="8B5CF6">
                <a:alpha val="90000"/>
              </a:srgbClr>
            </a:solidFill>
          </a:ln>
        </p:spPr>
        <p:txBody>
          <a:bodyPr wrap="square" lIns="889" tIns="889" rIns="889" bIns="889" rtlCol="0" anchor="ctr">
            <a:normAutofit/>
          </a:bodyPr>
          <a:lstStyle/>
          <a:p>
            <a:pPr algn="ctr" indent="0" marL="0">
              <a:buNone/>
            </a:pPr>
            <a:r>
              <a:rPr lang="en-US" sz="1800" b="1" dirty="0">
                <a:solidFill>
                  <a:srgbClr val="EAF2FF"/>
                </a:solidFill>
              </a:rPr>
              <a:t>Review</a:t>
            </a:r>
            <a:endParaRPr lang="en-US" sz="1800" dirty="0"/>
          </a:p>
        </p:txBody>
      </p:sp>
      <p:sp>
        <p:nvSpPr>
          <p:cNvPr id="11" name="Shape 8"/>
          <p:cNvSpPr/>
          <p:nvPr/>
        </p:nvSpPr>
        <p:spPr>
          <a:xfrm>
            <a:off x="2651760" y="2221992"/>
            <a:ext cx="182880" cy="0"/>
          </a:xfrm>
          <a:prstGeom prst="line">
            <a:avLst/>
          </a:prstGeom>
          <a:noFill/>
          <a:ln w="27940">
            <a:solidFill>
              <a:srgbClr val="14B8A6"/>
            </a:solidFill>
            <a:prstDash val="solid"/>
            <a:headEnd type="none"/>
            <a:tailEnd type="triangle"/>
          </a:ln>
        </p:spPr>
      </p:sp>
      <p:sp>
        <p:nvSpPr>
          <p:cNvPr id="12" name="Shape 9"/>
          <p:cNvSpPr/>
          <p:nvPr/>
        </p:nvSpPr>
        <p:spPr>
          <a:xfrm>
            <a:off x="4754880" y="2221992"/>
            <a:ext cx="182880" cy="0"/>
          </a:xfrm>
          <a:prstGeom prst="line">
            <a:avLst/>
          </a:prstGeom>
          <a:noFill/>
          <a:ln w="27940">
            <a:solidFill>
              <a:srgbClr val="22D3EE"/>
            </a:solidFill>
            <a:prstDash val="solid"/>
            <a:headEnd type="none"/>
            <a:tailEnd type="triangle"/>
          </a:ln>
        </p:spPr>
      </p:sp>
      <p:sp>
        <p:nvSpPr>
          <p:cNvPr id="13" name="Shape 10"/>
          <p:cNvSpPr/>
          <p:nvPr/>
        </p:nvSpPr>
        <p:spPr>
          <a:xfrm>
            <a:off x="6858000" y="2221992"/>
            <a:ext cx="182880" cy="0"/>
          </a:xfrm>
          <a:prstGeom prst="line">
            <a:avLst/>
          </a:prstGeom>
          <a:noFill/>
          <a:ln w="27940">
            <a:solidFill>
              <a:srgbClr val="F97316"/>
            </a:solidFill>
            <a:prstDash val="solid"/>
            <a:headEnd type="none"/>
            <a:tailEnd type="triangle"/>
          </a:ln>
        </p:spPr>
      </p:sp>
      <p:sp>
        <p:nvSpPr>
          <p:cNvPr id="14" name="Text 11"/>
          <p:cNvSpPr/>
          <p:nvPr/>
        </p:nvSpPr>
        <p:spPr>
          <a:xfrm>
            <a:off x="822960" y="3246120"/>
            <a:ext cx="7040880" cy="777240"/>
          </a:xfrm>
          <a:prstGeom prst="rect">
            <a:avLst/>
          </a:prstGeom>
          <a:noFill/>
          <a:ln/>
        </p:spPr>
        <p:txBody>
          <a:bodyPr wrap="square" lIns="1016" tIns="1016" rIns="1016" bIns="1016" rtlCol="0" anchor="ctr">
            <a:normAutofit/>
          </a:bodyPr>
          <a:lstStyle/>
          <a:p>
            <a:pPr indent="0" marL="0">
              <a:buNone/>
            </a:pPr>
            <a:r>
              <a:rPr lang="en-US" sz="1800" dirty="0">
                <a:solidFill>
                  <a:srgbClr val="EAF2FF"/>
                </a:solidFill>
                <a:latin typeface="Aptos" pitchFamily="34" charset="0"/>
                <a:ea typeface="Aptos" pitchFamily="34" charset="-122"/>
                <a:cs typeface="Aptos" pitchFamily="34" charset="-120"/>
              </a:rPr>
              <a:t>PharmaSafe combines YOLO11n, TrOCR and domain-aware fuzzy correction to transform handwritten prescriptions into structured medication data with inspectable intermediate outputs.</a:t>
            </a:r>
            <a:endParaRPr lang="en-US" sz="1800" dirty="0"/>
          </a:p>
        </p:txBody>
      </p:sp>
      <p:sp>
        <p:nvSpPr>
          <p:cNvPr id="15" name="Text 12"/>
          <p:cNvSpPr/>
          <p:nvPr/>
        </p:nvSpPr>
        <p:spPr>
          <a:xfrm>
            <a:off x="822960" y="4828032"/>
            <a:ext cx="7406640" cy="658368"/>
          </a:xfrm>
          <a:prstGeom prst="rect">
            <a:avLst/>
          </a:prstGeom>
          <a:solidFill>
            <a:srgbClr val="0F1F35">
              <a:alpha val="96000"/>
            </a:srgbClr>
          </a:solidFill>
          <a:ln w="15240">
            <a:solidFill>
              <a:srgbClr val="14B8A6">
                <a:alpha val="90000"/>
              </a:srgbClr>
            </a:solidFill>
          </a:ln>
        </p:spPr>
        <p:txBody>
          <a:bodyPr wrap="square" lIns="889" tIns="889" rIns="889" bIns="889" rtlCol="0" anchor="ctr">
            <a:normAutofit/>
          </a:bodyPr>
          <a:lstStyle/>
          <a:p>
            <a:pPr algn="ctr" indent="0" marL="0">
              <a:buNone/>
            </a:pPr>
            <a:r>
              <a:rPr lang="en-US" sz="1500" b="1" dirty="0">
                <a:solidFill>
                  <a:srgbClr val="D5E7FF"/>
                </a:solidFill>
              </a:rPr>
              <a:t>Best current path forward: create a unified dataset and add pharmacist-in-the-loop correction to continuously improve the system.</a:t>
            </a:r>
            <a:endParaRPr lang="en-US" sz="1500" dirty="0"/>
          </a:p>
        </p:txBody>
      </p:sp>
      <p:sp>
        <p:nvSpPr>
          <p:cNvPr id="16" name="Text 13"/>
          <p:cNvSpPr/>
          <p:nvPr/>
        </p:nvSpPr>
        <p:spPr>
          <a:xfrm>
            <a:off x="502920" y="6510528"/>
            <a:ext cx="1828800" cy="164592"/>
          </a:xfrm>
          <a:prstGeom prst="rect">
            <a:avLst/>
          </a:prstGeom>
          <a:noFill/>
          <a:ln/>
        </p:spPr>
        <p:txBody>
          <a:bodyPr wrap="square" lIns="0" tIns="0" rIns="0" bIns="0" rtlCol="0" anchor="ctr"/>
          <a:lstStyle/>
          <a:p>
            <a:pPr indent="0" marL="0">
              <a:buNone/>
            </a:pPr>
            <a:r>
              <a:rPr lang="en-US" sz="800" dirty="0">
                <a:solidFill>
                  <a:srgbClr val="93A4BD"/>
                </a:solidFill>
              </a:rPr>
              <a:t>PharmaSafe OCR</a:t>
            </a:r>
            <a:endParaRPr lang="en-US" sz="800" dirty="0"/>
          </a:p>
        </p:txBody>
      </p:sp>
      <p:sp>
        <p:nvSpPr>
          <p:cNvPr id="17" name="Text 14"/>
          <p:cNvSpPr/>
          <p:nvPr/>
        </p:nvSpPr>
        <p:spPr>
          <a:xfrm>
            <a:off x="11247120" y="6483096"/>
            <a:ext cx="457200" cy="201168"/>
          </a:xfrm>
          <a:prstGeom prst="rect">
            <a:avLst/>
          </a:prstGeom>
          <a:noFill/>
          <a:ln/>
        </p:spPr>
        <p:txBody>
          <a:bodyPr wrap="square" lIns="0" tIns="0" rIns="0" bIns="0" rtlCol="0" anchor="ctr"/>
          <a:lstStyle/>
          <a:p>
            <a:pPr algn="r" indent="0" marL="0">
              <a:buNone/>
            </a:pPr>
            <a:r>
              <a:rPr lang="en-US" sz="900" b="1" dirty="0">
                <a:solidFill>
                  <a:srgbClr val="14B8A6"/>
                </a:solidFill>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PharmaSafe OCR</dc:title>
  <dc:subject>PharmaSafe OCR Presentation</dc:subject>
  <dc:creator>OpenAI</dc:creator>
  <cp:lastModifiedBy>OpenAI</cp:lastModifiedBy>
  <cp:revision>1</cp:revision>
  <dcterms:created xsi:type="dcterms:W3CDTF">2026-06-02T10:00:58Z</dcterms:created>
  <dcterms:modified xsi:type="dcterms:W3CDTF">2026-06-02T10:00:58Z</dcterms:modified>
</cp:coreProperties>
</file>